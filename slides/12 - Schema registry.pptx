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  <p:sldMasterId id="2147483657" r:id="rId2"/>
  </p:sldMasterIdLst>
  <p:notesMasterIdLst>
    <p:notesMasterId r:id="rId15"/>
  </p:notesMasterIdLst>
  <p:handoutMasterIdLst>
    <p:handoutMasterId r:id="rId16"/>
  </p:handoutMasterIdLst>
  <p:sldIdLst>
    <p:sldId id="260" r:id="rId3"/>
    <p:sldId id="319" r:id="rId4"/>
    <p:sldId id="320" r:id="rId5"/>
    <p:sldId id="324" r:id="rId6"/>
    <p:sldId id="325" r:id="rId7"/>
    <p:sldId id="326" r:id="rId8"/>
    <p:sldId id="327" r:id="rId9"/>
    <p:sldId id="328" r:id="rId10"/>
    <p:sldId id="323" r:id="rId11"/>
    <p:sldId id="321" r:id="rId12"/>
    <p:sldId id="322" r:id="rId13"/>
    <p:sldId id="329" r:id="rId14"/>
  </p:sldIdLst>
  <p:sldSz cx="10080625" cy="6858000"/>
  <p:notesSz cx="6888163" cy="10020300"/>
  <p:embeddedFontLst>
    <p:embeddedFont>
      <p:font typeface="Arial Narrow" panose="020B0606020202030204" pitchFamily="34" charset="0"/>
      <p:regular r:id="rId17"/>
      <p:bold r:id="rId18"/>
      <p:italic r:id="rId19"/>
      <p:boldItalic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175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>
          <p15:clr>
            <a:srgbClr val="000000"/>
          </p15:clr>
        </p15:guide>
        <p15:guide id="2" pos="2171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961181-0966-4FB1-AE16-4F47901B9D46}" v="7" dt="2023-09-22T12:53:22.7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134" y="63"/>
      </p:cViewPr>
      <p:guideLst>
        <p:guide orient="horz" pos="2160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0" d="100"/>
          <a:sy n="110" d="100"/>
        </p:scale>
        <p:origin x="360" y="120"/>
      </p:cViewPr>
      <p:guideLst>
        <p:guide orient="horz" pos="3156"/>
        <p:guide pos="217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>
            <a:extLst>
              <a:ext uri="{FF2B5EF4-FFF2-40B4-BE49-F238E27FC236}">
                <a16:creationId xmlns:a16="http://schemas.microsoft.com/office/drawing/2014/main" id="{F0E5A4BC-6D0A-C730-8390-1384A83DC3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1FA5754-6DD7-D5ED-0732-61AD16DBDC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BFE939-5EC3-4D08-AE9D-032279A81FC9}" type="datetimeFigureOut">
              <a:rPr lang="da-DK" smtClean="0"/>
              <a:t>08-04-2024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8AD1624A-02D6-14EC-54A7-2411253E1F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8747B95-112B-DB8F-2A71-6ED08C089D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ABDDD-7010-4DDD-B9EC-6D19FCD0C4A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78095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3037" y="449262"/>
            <a:ext cx="6751637" cy="45926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66750" y="5519737"/>
            <a:ext cx="5765800" cy="387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 txBox="1">
            <a:spLocks noGrp="1"/>
          </p:cNvSpPr>
          <p:nvPr>
            <p:ph type="body" idx="1"/>
          </p:nvPr>
        </p:nvSpPr>
        <p:spPr>
          <a:xfrm>
            <a:off x="666750" y="5519737"/>
            <a:ext cx="5765800" cy="387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3038" y="449263"/>
            <a:ext cx="6751637" cy="45926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dias">
  <p:cSld name="Titeldia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97409" y="1932530"/>
            <a:ext cx="8568532" cy="295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600" b="1" i="1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1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1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1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1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1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1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1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1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1" y="-11431"/>
            <a:ext cx="6120432" cy="776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1" u="none" strike="noStrike" cap="none">
                <a:solidFill>
                  <a:srgbClr val="F8F8F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1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1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1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1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1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1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1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1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360362" y="1052512"/>
            <a:ext cx="9359900" cy="51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44500" algn="l" rtl="0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sz="34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73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»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232025" y="6378575"/>
            <a:ext cx="5616575" cy="35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5FA3"/>
              </a:buClr>
              <a:buSzPts val="1300"/>
              <a:buFont typeface="Arial Narrow"/>
              <a:buNone/>
            </a:pPr>
            <a:r>
              <a:rPr lang="en-US" sz="1300" b="1" i="1" u="none" strike="noStrike" cap="none">
                <a:solidFill>
                  <a:srgbClr val="305FA3"/>
                </a:solidFill>
                <a:latin typeface="Arial Narrow"/>
                <a:ea typeface="Arial Narrow"/>
                <a:cs typeface="Arial Narrow"/>
                <a:sym typeface="Arial Narrow"/>
              </a:rPr>
              <a:t>Instruktørmøde den 01/06-2017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</a:pPr>
            <a:r>
              <a:rPr lang="en-US" sz="1000" b="0" i="1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Copyright © Lund&amp;Bendsen A/S</a:t>
            </a:r>
            <a:endParaRPr/>
          </a:p>
        </p:txBody>
      </p:sp>
      <p:sp>
        <p:nvSpPr>
          <p:cNvPr id="7" name="Google Shape;7;p1"/>
          <p:cNvSpPr txBox="1"/>
          <p:nvPr/>
        </p:nvSpPr>
        <p:spPr>
          <a:xfrm>
            <a:off x="3175" y="0"/>
            <a:ext cx="10077450" cy="18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</a:pPr>
            <a:r>
              <a:rPr lang="en-US" sz="1000" b="0" i="1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0584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/>
          <p:nvPr/>
        </p:nvSpPr>
        <p:spPr>
          <a:xfrm>
            <a:off x="7856537" y="6378575"/>
            <a:ext cx="579437" cy="381000"/>
          </a:xfrm>
          <a:prstGeom prst="parallelogram">
            <a:avLst>
              <a:gd name="adj" fmla="val 6660"/>
            </a:avLst>
          </a:prstGeom>
          <a:solidFill>
            <a:srgbClr val="345FA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8064500" y="6378575"/>
            <a:ext cx="2016125" cy="381000"/>
          </a:xfrm>
          <a:prstGeom prst="rect">
            <a:avLst/>
          </a:prstGeom>
          <a:solidFill>
            <a:srgbClr val="345FA3"/>
          </a:solidFill>
          <a:ln>
            <a:noFill/>
          </a:ln>
        </p:spPr>
        <p:txBody>
          <a:bodyPr spcFirstLastPara="1" wrap="square" lIns="91425" tIns="91425" rIns="216000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1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Side </a:t>
            </a:r>
            <a:fld id="{00000000-1234-1234-1234-123412341234}" type="slidenum">
              <a:rPr lang="en-US" sz="1600" b="0" i="1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‹nr.›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-14287" y="-257175"/>
            <a:ext cx="10094912" cy="7372350"/>
          </a:xfrm>
          <a:prstGeom prst="rect">
            <a:avLst/>
          </a:prstGeom>
          <a:solidFill>
            <a:srgbClr val="325FA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160587" y="-19050"/>
            <a:ext cx="631666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93062" y="144462"/>
            <a:ext cx="1927225" cy="46196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360362" y="1052512"/>
            <a:ext cx="9359900" cy="51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44500" algn="l" rtl="0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73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»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60362" y="1052512"/>
            <a:ext cx="9359900" cy="51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44500" algn="l" rtl="0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73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»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/>
          <p:nvPr/>
        </p:nvSpPr>
        <p:spPr>
          <a:xfrm>
            <a:off x="3175" y="0"/>
            <a:ext cx="10077450" cy="18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</a:pPr>
            <a:r>
              <a:rPr lang="en-US" sz="10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/>
          </a:p>
        </p:txBody>
      </p:sp>
      <p:pic>
        <p:nvPicPr>
          <p:cNvPr id="42" name="Google Shape;4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0584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"/>
          <p:cNvSpPr/>
          <p:nvPr/>
        </p:nvSpPr>
        <p:spPr>
          <a:xfrm>
            <a:off x="7856537" y="6378575"/>
            <a:ext cx="579437" cy="381000"/>
          </a:xfrm>
          <a:prstGeom prst="parallelogram">
            <a:avLst>
              <a:gd name="adj" fmla="val 6660"/>
            </a:avLst>
          </a:prstGeom>
          <a:solidFill>
            <a:srgbClr val="345FA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4" name="Google Shape;44;p7"/>
          <p:cNvSpPr txBox="1"/>
          <p:nvPr/>
        </p:nvSpPr>
        <p:spPr>
          <a:xfrm>
            <a:off x="8064500" y="6378575"/>
            <a:ext cx="2016125" cy="381000"/>
          </a:xfrm>
          <a:prstGeom prst="rect">
            <a:avLst/>
          </a:prstGeom>
          <a:solidFill>
            <a:srgbClr val="345FA3"/>
          </a:solidFill>
          <a:ln>
            <a:noFill/>
          </a:ln>
        </p:spPr>
        <p:txBody>
          <a:bodyPr spcFirstLastPara="1" wrap="square" lIns="91425" tIns="91425" rIns="216000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1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Side </a:t>
            </a:r>
            <a:fld id="{00000000-1234-1234-1234-123412341234}" type="slidenum">
              <a:rPr lang="en-US" sz="1600" b="0" i="1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ctrTitle"/>
          </p:nvPr>
        </p:nvSpPr>
        <p:spPr>
          <a:xfrm>
            <a:off x="755650" y="2130425"/>
            <a:ext cx="8569325" cy="2954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 Narrow"/>
              <a:buNone/>
            </a:pPr>
            <a:r>
              <a:rPr lang="en-US" dirty="0"/>
              <a:t>Schema registry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21EA28-74D7-33B5-C555-50355A95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Without</a:t>
            </a:r>
            <a:r>
              <a:rPr lang="da-DK" dirty="0"/>
              <a:t> </a:t>
            </a:r>
            <a:r>
              <a:rPr lang="da-DK" dirty="0" err="1"/>
              <a:t>schema</a:t>
            </a:r>
            <a:r>
              <a:rPr lang="da-DK" dirty="0"/>
              <a:t> </a:t>
            </a:r>
            <a:r>
              <a:rPr lang="da-DK" dirty="0" err="1"/>
              <a:t>registry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CB651C-4AB1-F4C1-1D3A-67837C80B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466" y="3392225"/>
            <a:ext cx="6667500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DE21BE42-C827-4ED1-7504-C25056444344}"/>
              </a:ext>
            </a:extLst>
          </p:cNvPr>
          <p:cNvSpPr txBox="1"/>
          <p:nvPr/>
        </p:nvSpPr>
        <p:spPr>
          <a:xfrm>
            <a:off x="646459" y="1356715"/>
            <a:ext cx="4776146" cy="95410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No </a:t>
            </a:r>
            <a:r>
              <a:rPr lang="da-DK" dirty="0" err="1"/>
              <a:t>validation</a:t>
            </a:r>
            <a:r>
              <a:rPr lang="da-DK" dirty="0"/>
              <a:t> of input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Producer </a:t>
            </a:r>
            <a:r>
              <a:rPr lang="da-DK" dirty="0" err="1"/>
              <a:t>can</a:t>
            </a:r>
            <a:r>
              <a:rPr lang="da-DK" dirty="0"/>
              <a:t> send </a:t>
            </a:r>
            <a:r>
              <a:rPr lang="da-DK" dirty="0" err="1"/>
              <a:t>poisoned</a:t>
            </a:r>
            <a:r>
              <a:rPr lang="da-DK" dirty="0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Consumer </a:t>
            </a:r>
            <a:r>
              <a:rPr lang="da-DK" dirty="0" err="1"/>
              <a:t>will</a:t>
            </a:r>
            <a:r>
              <a:rPr lang="da-DK" dirty="0"/>
              <a:t> break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consuming</a:t>
            </a:r>
            <a:r>
              <a:rPr lang="da-DK" dirty="0"/>
              <a:t> </a:t>
            </a:r>
            <a:r>
              <a:rPr lang="da-DK" dirty="0" err="1"/>
              <a:t>poisoned</a:t>
            </a:r>
            <a:r>
              <a:rPr lang="da-DK" dirty="0"/>
              <a:t>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883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21EA28-74D7-33B5-C555-50355A95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With </a:t>
            </a:r>
            <a:r>
              <a:rPr lang="da-DK" dirty="0" err="1"/>
              <a:t>schema</a:t>
            </a:r>
            <a:r>
              <a:rPr lang="da-DK" dirty="0"/>
              <a:t> </a:t>
            </a:r>
            <a:r>
              <a:rPr lang="da-DK" dirty="0" err="1"/>
              <a:t>registry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84B039-F901-D00A-5EED-F6AA60FA7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09" y="2831517"/>
            <a:ext cx="6667500" cy="345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5F0F8A9B-C3F9-D438-70F1-EDA6AD8722CB}"/>
              </a:ext>
            </a:extLst>
          </p:cNvPr>
          <p:cNvSpPr txBox="1"/>
          <p:nvPr/>
        </p:nvSpPr>
        <p:spPr>
          <a:xfrm rot="1740857">
            <a:off x="5239383" y="1828844"/>
            <a:ext cx="4567746" cy="160043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 err="1"/>
              <a:t>Before</a:t>
            </a:r>
            <a:r>
              <a:rPr lang="da-DK" dirty="0"/>
              <a:t> </a:t>
            </a:r>
            <a:r>
              <a:rPr lang="da-DK" dirty="0" err="1"/>
              <a:t>deserialization</a:t>
            </a:r>
            <a:r>
              <a:rPr lang="da-DK" dirty="0"/>
              <a:t> the </a:t>
            </a:r>
            <a:r>
              <a:rPr lang="da-DK" dirty="0" err="1"/>
              <a:t>consumer</a:t>
            </a:r>
            <a:r>
              <a:rPr lang="da-DK" dirty="0"/>
              <a:t> checks </a:t>
            </a:r>
            <a:r>
              <a:rPr lang="da-DK" dirty="0" err="1"/>
              <a:t>if</a:t>
            </a:r>
            <a:r>
              <a:rPr lang="da-DK" dirty="0"/>
              <a:t> the </a:t>
            </a:r>
            <a:r>
              <a:rPr lang="da-DK" dirty="0" err="1"/>
              <a:t>schema</a:t>
            </a:r>
            <a:r>
              <a:rPr lang="da-DK" dirty="0"/>
              <a:t> </a:t>
            </a:r>
            <a:r>
              <a:rPr lang="da-DK" dirty="0" err="1"/>
              <a:t>exists</a:t>
            </a:r>
            <a:r>
              <a:rPr lang="da-DK" dirty="0"/>
              <a:t> in </a:t>
            </a:r>
            <a:r>
              <a:rPr lang="da-DK" dirty="0" err="1"/>
              <a:t>local</a:t>
            </a:r>
            <a:r>
              <a:rPr lang="da-DK" dirty="0"/>
              <a:t> cache (by 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If not it </a:t>
            </a:r>
            <a:r>
              <a:rPr lang="da-DK" dirty="0" err="1"/>
              <a:t>tries</a:t>
            </a:r>
            <a:r>
              <a:rPr lang="da-DK" dirty="0"/>
              <a:t> to load </a:t>
            </a:r>
            <a:r>
              <a:rPr lang="da-DK" dirty="0" err="1"/>
              <a:t>if</a:t>
            </a:r>
            <a:r>
              <a:rPr lang="da-DK" dirty="0"/>
              <a:t> from the </a:t>
            </a:r>
            <a:r>
              <a:rPr lang="da-DK" dirty="0" err="1"/>
              <a:t>registry</a:t>
            </a:r>
            <a:r>
              <a:rPr lang="da-DK" dirty="0"/>
              <a:t> and puts it in </a:t>
            </a:r>
            <a:r>
              <a:rPr lang="da-DK" dirty="0" err="1"/>
              <a:t>local</a:t>
            </a:r>
            <a:r>
              <a:rPr lang="da-DK" dirty="0"/>
              <a:t> cache.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Upon </a:t>
            </a:r>
            <a:r>
              <a:rPr lang="da-DK" dirty="0" err="1"/>
              <a:t>success</a:t>
            </a:r>
            <a:r>
              <a:rPr lang="da-DK" dirty="0"/>
              <a:t> the message is </a:t>
            </a:r>
            <a:r>
              <a:rPr lang="da-DK" dirty="0" err="1"/>
              <a:t>deserialized</a:t>
            </a: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The </a:t>
            </a:r>
            <a:r>
              <a:rPr lang="da-DK" dirty="0" err="1"/>
              <a:t>consumer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not </a:t>
            </a:r>
            <a:r>
              <a:rPr lang="da-DK" dirty="0" err="1"/>
              <a:t>know</a:t>
            </a:r>
            <a:r>
              <a:rPr lang="da-DK" dirty="0"/>
              <a:t> the </a:t>
            </a:r>
            <a:r>
              <a:rPr lang="da-DK" dirty="0" err="1"/>
              <a:t>schema</a:t>
            </a:r>
            <a:r>
              <a:rPr lang="da-DK" dirty="0"/>
              <a:t> in </a:t>
            </a:r>
            <a:r>
              <a:rPr lang="da-DK" dirty="0" err="1"/>
              <a:t>advance</a:t>
            </a:r>
            <a:endParaRPr lang="en-US" dirty="0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58204637-84F5-C5C4-ACC9-9DC34F79B050}"/>
              </a:ext>
            </a:extLst>
          </p:cNvPr>
          <p:cNvSpPr txBox="1"/>
          <p:nvPr/>
        </p:nvSpPr>
        <p:spPr>
          <a:xfrm rot="19553284">
            <a:off x="127014" y="1781178"/>
            <a:ext cx="4567746" cy="203132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 err="1"/>
              <a:t>Before</a:t>
            </a:r>
            <a:r>
              <a:rPr lang="da-DK" dirty="0"/>
              <a:t> </a:t>
            </a:r>
            <a:r>
              <a:rPr lang="da-DK" dirty="0" err="1"/>
              <a:t>serialization</a:t>
            </a:r>
            <a:r>
              <a:rPr lang="da-DK" dirty="0"/>
              <a:t> the </a:t>
            </a:r>
            <a:r>
              <a:rPr lang="da-DK" dirty="0" err="1"/>
              <a:t>serializer</a:t>
            </a:r>
            <a:r>
              <a:rPr lang="da-DK" dirty="0"/>
              <a:t> checks </a:t>
            </a:r>
            <a:r>
              <a:rPr lang="da-DK" dirty="0" err="1"/>
              <a:t>if</a:t>
            </a:r>
            <a:r>
              <a:rPr lang="da-DK" dirty="0"/>
              <a:t> the </a:t>
            </a:r>
            <a:r>
              <a:rPr lang="da-DK" dirty="0" err="1"/>
              <a:t>schema</a:t>
            </a:r>
            <a:r>
              <a:rPr lang="da-DK" dirty="0"/>
              <a:t> </a:t>
            </a:r>
            <a:r>
              <a:rPr lang="da-DK" dirty="0" err="1"/>
              <a:t>exists</a:t>
            </a:r>
            <a:r>
              <a:rPr lang="da-DK" dirty="0"/>
              <a:t> in </a:t>
            </a:r>
            <a:r>
              <a:rPr lang="da-DK" dirty="0" err="1"/>
              <a:t>local</a:t>
            </a:r>
            <a:r>
              <a:rPr lang="da-DK" dirty="0"/>
              <a:t> cache (</a:t>
            </a:r>
            <a:r>
              <a:rPr lang="da-DK" dirty="0" err="1"/>
              <a:t>along</a:t>
            </a:r>
            <a:r>
              <a:rPr lang="da-DK" dirty="0"/>
              <a:t> with an 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If not it </a:t>
            </a:r>
            <a:r>
              <a:rPr lang="da-DK" dirty="0" err="1"/>
              <a:t>tries</a:t>
            </a:r>
            <a:r>
              <a:rPr lang="da-DK" dirty="0"/>
              <a:t> to load it from the </a:t>
            </a:r>
            <a:r>
              <a:rPr lang="da-DK" dirty="0" err="1"/>
              <a:t>registry</a:t>
            </a:r>
            <a:r>
              <a:rPr lang="da-DK" dirty="0"/>
              <a:t>, and puts it in </a:t>
            </a:r>
            <a:r>
              <a:rPr lang="da-DK" dirty="0" err="1"/>
              <a:t>local</a:t>
            </a:r>
            <a:r>
              <a:rPr lang="da-DK" dirty="0"/>
              <a:t> cache.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If the </a:t>
            </a:r>
            <a:r>
              <a:rPr lang="da-DK" dirty="0" err="1"/>
              <a:t>schema</a:t>
            </a:r>
            <a:r>
              <a:rPr lang="da-DK" dirty="0"/>
              <a:t> is not in the </a:t>
            </a:r>
            <a:r>
              <a:rPr lang="da-DK" dirty="0" err="1"/>
              <a:t>registry</a:t>
            </a:r>
            <a:r>
              <a:rPr lang="da-DK" dirty="0"/>
              <a:t>, the </a:t>
            </a:r>
            <a:r>
              <a:rPr lang="da-DK" dirty="0" err="1"/>
              <a:t>serializer</a:t>
            </a:r>
            <a:r>
              <a:rPr lang="da-DK" dirty="0"/>
              <a:t> </a:t>
            </a:r>
            <a:r>
              <a:rPr lang="da-DK" dirty="0" err="1"/>
              <a:t>sends</a:t>
            </a:r>
            <a:r>
              <a:rPr lang="da-DK" dirty="0"/>
              <a:t> the </a:t>
            </a:r>
            <a:r>
              <a:rPr lang="da-DK" dirty="0" err="1"/>
              <a:t>schema</a:t>
            </a:r>
            <a:r>
              <a:rPr lang="da-DK" dirty="0"/>
              <a:t> to the </a:t>
            </a:r>
            <a:r>
              <a:rPr lang="da-DK" dirty="0" err="1"/>
              <a:t>registry</a:t>
            </a:r>
            <a:r>
              <a:rPr lang="da-DK" dirty="0"/>
              <a:t> and </a:t>
            </a:r>
            <a:r>
              <a:rPr lang="da-DK" dirty="0" err="1"/>
              <a:t>gets</a:t>
            </a:r>
            <a:r>
              <a:rPr lang="da-DK" dirty="0"/>
              <a:t> an id back (</a:t>
            </a:r>
            <a:r>
              <a:rPr lang="da-DK" dirty="0" err="1">
                <a:latin typeface="Consolas" panose="020B0609020204030204" pitchFamily="49" charset="0"/>
              </a:rPr>
              <a:t>auto.register.schemas</a:t>
            </a:r>
            <a:r>
              <a:rPr lang="da-DK" dirty="0"/>
              <a:t> </a:t>
            </a:r>
            <a:r>
              <a:rPr lang="da-DK" dirty="0" err="1"/>
              <a:t>turned</a:t>
            </a:r>
            <a:r>
              <a:rPr lang="da-DK" dirty="0"/>
              <a:t> 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If the </a:t>
            </a:r>
            <a:r>
              <a:rPr lang="da-DK" dirty="0" err="1"/>
              <a:t>above</a:t>
            </a:r>
            <a:r>
              <a:rPr lang="da-DK" dirty="0"/>
              <a:t> </a:t>
            </a:r>
            <a:r>
              <a:rPr lang="da-DK" dirty="0" err="1"/>
              <a:t>fails</a:t>
            </a:r>
            <a:r>
              <a:rPr lang="da-DK" dirty="0"/>
              <a:t> the </a:t>
            </a:r>
            <a:r>
              <a:rPr lang="da-DK" dirty="0" err="1"/>
              <a:t>serializer</a:t>
            </a:r>
            <a:r>
              <a:rPr lang="da-DK" dirty="0"/>
              <a:t> aborts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345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D53518-2CD0-474C-E35C-1F06C27C3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Protobuf</a:t>
            </a:r>
            <a:r>
              <a:rPr lang="da-DK" dirty="0"/>
              <a:t> </a:t>
            </a:r>
            <a:r>
              <a:rPr lang="da-DK" dirty="0" err="1"/>
              <a:t>schema</a:t>
            </a:r>
            <a:endParaRPr lang="en-US" dirty="0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DC531672-D33C-7E69-4953-3F2AB16C8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361" y="1052512"/>
            <a:ext cx="4590157" cy="3285572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1270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syntax = "proto3";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pPr marL="1270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option </a:t>
            </a:r>
            <a:r>
              <a:rPr lang="en-US" sz="1600" dirty="0" err="1">
                <a:latin typeface="Consolas" panose="020B0609020204030204" pitchFamily="49" charset="0"/>
              </a:rPr>
              <a:t>java_package</a:t>
            </a:r>
            <a:r>
              <a:rPr lang="en-US" sz="1600" dirty="0">
                <a:latin typeface="Consolas" panose="020B0609020204030204" pitchFamily="49" charset="0"/>
              </a:rPr>
              <a:t> = "</a:t>
            </a:r>
            <a:r>
              <a:rPr lang="en-US" sz="1600" dirty="0" err="1">
                <a:latin typeface="Consolas" panose="020B0609020204030204" pitchFamily="49" charset="0"/>
              </a:rPr>
              <a:t>com.example.tutorial.protos</a:t>
            </a:r>
            <a:r>
              <a:rPr lang="en-US" sz="1600" dirty="0">
                <a:latin typeface="Consolas" panose="020B0609020204030204" pitchFamily="49" charset="0"/>
              </a:rPr>
              <a:t>";</a:t>
            </a:r>
          </a:p>
          <a:p>
            <a:pPr marL="1270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1270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message </a:t>
            </a:r>
            <a:r>
              <a:rPr lang="en-US" sz="1600" dirty="0" err="1">
                <a:latin typeface="Consolas" panose="020B0609020204030204" pitchFamily="49" charset="0"/>
              </a:rPr>
              <a:t>SimpleMessage</a:t>
            </a:r>
            <a:r>
              <a:rPr lang="en-US" sz="1600" dirty="0">
                <a:latin typeface="Consolas" panose="020B0609020204030204" pitchFamily="49" charset="0"/>
              </a:rPr>
              <a:t> {</a:t>
            </a:r>
          </a:p>
          <a:p>
            <a:pPr marL="1270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	string content = 1;</a:t>
            </a:r>
          </a:p>
          <a:p>
            <a:pPr marL="1270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	string </a:t>
            </a:r>
            <a:r>
              <a:rPr lang="en-US" sz="1600" dirty="0" err="1">
                <a:latin typeface="Consolas" panose="020B0609020204030204" pitchFamily="49" charset="0"/>
              </a:rPr>
              <a:t>date_time</a:t>
            </a:r>
            <a:r>
              <a:rPr lang="en-US" sz="1600" dirty="0">
                <a:latin typeface="Consolas" panose="020B0609020204030204" pitchFamily="49" charset="0"/>
              </a:rPr>
              <a:t> = 2;</a:t>
            </a:r>
          </a:p>
          <a:p>
            <a:pPr marL="1270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Pladsholder til tekst 2">
            <a:extLst>
              <a:ext uri="{FF2B5EF4-FFF2-40B4-BE49-F238E27FC236}">
                <a16:creationId xmlns:a16="http://schemas.microsoft.com/office/drawing/2014/main" id="{1B8446E8-F0C7-3440-78BB-C463D9A521A0}"/>
              </a:ext>
            </a:extLst>
          </p:cNvPr>
          <p:cNvSpPr txBox="1">
            <a:spLocks/>
          </p:cNvSpPr>
          <p:nvPr/>
        </p:nvSpPr>
        <p:spPr>
          <a:xfrm>
            <a:off x="5242124" y="1986815"/>
            <a:ext cx="4360494" cy="399653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44500" algn="l" rtl="0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73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»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700" indent="0">
              <a:buFont typeface="Arial"/>
              <a:buNone/>
            </a:pPr>
            <a:r>
              <a:rPr lang="en-US" sz="1600" dirty="0">
                <a:latin typeface="Consolas" panose="020B0609020204030204" pitchFamily="49" charset="0"/>
              </a:rPr>
              <a:t>message Order {</a:t>
            </a:r>
          </a:p>
          <a:p>
            <a:pPr marL="12700" indent="0">
              <a:buFont typeface="Arial"/>
              <a:buNone/>
            </a:pPr>
            <a:r>
              <a:rPr lang="en-US" sz="1600" dirty="0">
                <a:latin typeface="Consolas" panose="020B0609020204030204" pitchFamily="49" charset="0"/>
              </a:rPr>
              <a:t>	int64 </a:t>
            </a:r>
            <a:r>
              <a:rPr lang="en-US" sz="1600" dirty="0" err="1">
                <a:latin typeface="Consolas" panose="020B0609020204030204" pitchFamily="49" charset="0"/>
              </a:rPr>
              <a:t>order_id</a:t>
            </a:r>
            <a:r>
              <a:rPr lang="en-US" sz="1600" dirty="0">
                <a:latin typeface="Consolas" panose="020B0609020204030204" pitchFamily="49" charset="0"/>
              </a:rPr>
              <a:t> = 1;</a:t>
            </a:r>
          </a:p>
          <a:p>
            <a:pPr marL="12700" indent="0">
              <a:buFont typeface="Arial"/>
              <a:buNone/>
            </a:pPr>
            <a:r>
              <a:rPr lang="en-US" sz="1600" dirty="0">
                <a:latin typeface="Consolas" panose="020B0609020204030204" pitchFamily="49" charset="0"/>
              </a:rPr>
              <a:t>	int64 </a:t>
            </a:r>
            <a:r>
              <a:rPr lang="en-US" sz="1600" dirty="0" err="1">
                <a:latin typeface="Consolas" panose="020B0609020204030204" pitchFamily="49" charset="0"/>
              </a:rPr>
              <a:t>date_time</a:t>
            </a:r>
            <a:r>
              <a:rPr lang="en-US" sz="1600" dirty="0">
                <a:latin typeface="Consolas" panose="020B0609020204030204" pitchFamily="49" charset="0"/>
              </a:rPr>
              <a:t> = 2;</a:t>
            </a:r>
          </a:p>
          <a:p>
            <a:pPr marL="12700" indent="0">
              <a:buFont typeface="Arial"/>
              <a:buNone/>
            </a:pPr>
            <a:r>
              <a:rPr lang="en-US" sz="1600" dirty="0">
                <a:latin typeface="Consolas" panose="020B0609020204030204" pitchFamily="49" charset="0"/>
              </a:rPr>
              <a:t>	repeated Product </a:t>
            </a:r>
            <a:r>
              <a:rPr lang="en-US" sz="1600" dirty="0" err="1">
                <a:latin typeface="Consolas" panose="020B0609020204030204" pitchFamily="49" charset="0"/>
              </a:rPr>
              <a:t>product</a:t>
            </a:r>
            <a:r>
              <a:rPr lang="en-US" sz="1600" dirty="0">
                <a:latin typeface="Consolas" panose="020B0609020204030204" pitchFamily="49" charset="0"/>
              </a:rPr>
              <a:t> = 3;</a:t>
            </a:r>
          </a:p>
          <a:p>
            <a:pPr marL="12700" indent="0">
              <a:buFont typeface="Arial"/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12700" indent="0">
              <a:buFont typeface="Arial"/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12700" indent="0">
              <a:buFont typeface="Arial"/>
              <a:buNone/>
            </a:pPr>
            <a:r>
              <a:rPr lang="en-US" sz="1600" dirty="0">
                <a:latin typeface="Consolas" panose="020B0609020204030204" pitchFamily="49" charset="0"/>
              </a:rPr>
              <a:t>message Product {</a:t>
            </a:r>
          </a:p>
          <a:p>
            <a:pPr marL="12700" indent="0">
              <a:buFont typeface="Arial"/>
              <a:buNone/>
            </a:pPr>
            <a:r>
              <a:rPr lang="en-US" sz="1600" dirty="0">
                <a:latin typeface="Consolas" panose="020B0609020204030204" pitchFamily="49" charset="0"/>
              </a:rPr>
              <a:t>	int32 </a:t>
            </a:r>
            <a:r>
              <a:rPr lang="en-US" sz="1600" dirty="0" err="1">
                <a:latin typeface="Consolas" panose="020B0609020204030204" pitchFamily="49" charset="0"/>
              </a:rPr>
              <a:t>product_id</a:t>
            </a:r>
            <a:r>
              <a:rPr lang="en-US" sz="1600" dirty="0">
                <a:latin typeface="Consolas" panose="020B0609020204030204" pitchFamily="49" charset="0"/>
              </a:rPr>
              <a:t> = 1;</a:t>
            </a:r>
          </a:p>
          <a:p>
            <a:pPr marL="12700" indent="0">
              <a:buFont typeface="Arial"/>
              <a:buNone/>
            </a:pPr>
            <a:r>
              <a:rPr lang="en-US" sz="1600" dirty="0">
                <a:latin typeface="Consolas" panose="020B0609020204030204" pitchFamily="49" charset="0"/>
              </a:rPr>
              <a:t>	string name = 2;</a:t>
            </a:r>
          </a:p>
          <a:p>
            <a:pPr marL="12700" indent="0">
              <a:buFont typeface="Arial"/>
              <a:buNone/>
            </a:pPr>
            <a:r>
              <a:rPr lang="en-US" sz="1600" dirty="0">
                <a:latin typeface="Consolas" panose="020B0609020204030204" pitchFamily="49" charset="0"/>
              </a:rPr>
              <a:t>	string description = 3;</a:t>
            </a:r>
          </a:p>
          <a:p>
            <a:pPr marL="12700" indent="0">
              <a:buFont typeface="Arial"/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Pil: højre 6">
            <a:extLst>
              <a:ext uri="{FF2B5EF4-FFF2-40B4-BE49-F238E27FC236}">
                <a16:creationId xmlns:a16="http://schemas.microsoft.com/office/drawing/2014/main" id="{41B786A8-8542-9773-71B0-E8BFB29C46EE}"/>
              </a:ext>
            </a:extLst>
          </p:cNvPr>
          <p:cNvSpPr/>
          <p:nvPr/>
        </p:nvSpPr>
        <p:spPr>
          <a:xfrm rot="20313559">
            <a:off x="3142984" y="5083328"/>
            <a:ext cx="259455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More </a:t>
            </a:r>
            <a:r>
              <a:rPr lang="da-DK" dirty="0" err="1"/>
              <a:t>complex</a:t>
            </a:r>
            <a:r>
              <a:rPr lang="da-DK" dirty="0"/>
              <a:t> datatypes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524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D53518-2CD0-474C-E35C-1F06C27C3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Generating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in </a:t>
            </a:r>
            <a:r>
              <a:rPr lang="da-DK" dirty="0" err="1"/>
              <a:t>java</a:t>
            </a:r>
            <a:endParaRPr lang="en-US" dirty="0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DC531672-D33C-7E69-4953-3F2AB16C8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08268" y="2039213"/>
            <a:ext cx="3016539" cy="1716207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12700" indent="0">
              <a:buNone/>
            </a:pPr>
            <a:r>
              <a:rPr lang="en-US" sz="800" dirty="0">
                <a:latin typeface="Consolas" panose="020B0609020204030204" pitchFamily="49" charset="0"/>
              </a:rPr>
              <a:t>&lt;dependencies&gt;</a:t>
            </a:r>
          </a:p>
          <a:p>
            <a:pPr marL="12700" indent="0">
              <a:buNone/>
            </a:pPr>
            <a:r>
              <a:rPr lang="en-US" sz="800" dirty="0">
                <a:latin typeface="Consolas" panose="020B0609020204030204" pitchFamily="49" charset="0"/>
              </a:rPr>
              <a:t>   &lt;dependency&gt;</a:t>
            </a:r>
          </a:p>
          <a:p>
            <a:pPr marL="12700" indent="0">
              <a:buNone/>
            </a:pPr>
            <a:r>
              <a:rPr lang="en-US" sz="800" dirty="0">
                <a:latin typeface="Consolas" panose="020B0609020204030204" pitchFamily="49" charset="0"/>
              </a:rPr>
              <a:t>      &lt;</a:t>
            </a:r>
            <a:r>
              <a:rPr lang="en-US" sz="800" dirty="0" err="1">
                <a:latin typeface="Consolas" panose="020B0609020204030204" pitchFamily="49" charset="0"/>
              </a:rPr>
              <a:t>groupId</a:t>
            </a:r>
            <a:r>
              <a:rPr lang="en-US" sz="800" dirty="0">
                <a:latin typeface="Consolas" panose="020B0609020204030204" pitchFamily="49" charset="0"/>
              </a:rPr>
              <a:t>&gt;</a:t>
            </a:r>
            <a:r>
              <a:rPr lang="en-US" sz="800" dirty="0" err="1">
                <a:latin typeface="Consolas" panose="020B0609020204030204" pitchFamily="49" charset="0"/>
              </a:rPr>
              <a:t>com.google.protobuf</a:t>
            </a:r>
            <a:r>
              <a:rPr lang="en-US" sz="800" dirty="0">
                <a:latin typeface="Consolas" panose="020B0609020204030204" pitchFamily="49" charset="0"/>
              </a:rPr>
              <a:t>&lt;/</a:t>
            </a:r>
            <a:r>
              <a:rPr lang="en-US" sz="800" dirty="0" err="1">
                <a:latin typeface="Consolas" panose="020B0609020204030204" pitchFamily="49" charset="0"/>
              </a:rPr>
              <a:t>groupId</a:t>
            </a:r>
            <a:r>
              <a:rPr lang="en-US" sz="800" dirty="0">
                <a:latin typeface="Consolas" panose="020B0609020204030204" pitchFamily="49" charset="0"/>
              </a:rPr>
              <a:t>&gt;</a:t>
            </a:r>
          </a:p>
          <a:p>
            <a:pPr marL="12700" indent="0">
              <a:buNone/>
            </a:pPr>
            <a:r>
              <a:rPr lang="en-US" sz="800" dirty="0">
                <a:latin typeface="Consolas" panose="020B0609020204030204" pitchFamily="49" charset="0"/>
              </a:rPr>
              <a:t>      &lt;</a:t>
            </a:r>
            <a:r>
              <a:rPr lang="en-US" sz="800" dirty="0" err="1">
                <a:latin typeface="Consolas" panose="020B0609020204030204" pitchFamily="49" charset="0"/>
              </a:rPr>
              <a:t>artifactId</a:t>
            </a:r>
            <a:r>
              <a:rPr lang="en-US" sz="800" dirty="0">
                <a:latin typeface="Consolas" panose="020B0609020204030204" pitchFamily="49" charset="0"/>
              </a:rPr>
              <a:t>&gt;</a:t>
            </a:r>
            <a:r>
              <a:rPr lang="en-US" sz="800" dirty="0" err="1">
                <a:latin typeface="Consolas" panose="020B0609020204030204" pitchFamily="49" charset="0"/>
              </a:rPr>
              <a:t>protobuf</a:t>
            </a:r>
            <a:r>
              <a:rPr lang="en-US" sz="800" dirty="0">
                <a:latin typeface="Consolas" panose="020B0609020204030204" pitchFamily="49" charset="0"/>
              </a:rPr>
              <a:t>-java&lt;/</a:t>
            </a:r>
            <a:r>
              <a:rPr lang="en-US" sz="800" dirty="0" err="1">
                <a:latin typeface="Consolas" panose="020B0609020204030204" pitchFamily="49" charset="0"/>
              </a:rPr>
              <a:t>artifactId</a:t>
            </a:r>
            <a:r>
              <a:rPr lang="en-US" sz="800" dirty="0">
                <a:latin typeface="Consolas" panose="020B0609020204030204" pitchFamily="49" charset="0"/>
              </a:rPr>
              <a:t>&gt;</a:t>
            </a:r>
          </a:p>
          <a:p>
            <a:pPr marL="12700" indent="0">
              <a:buNone/>
            </a:pPr>
            <a:r>
              <a:rPr lang="en-US" sz="800" dirty="0">
                <a:latin typeface="Consolas" panose="020B0609020204030204" pitchFamily="49" charset="0"/>
              </a:rPr>
              <a:t>      &lt;version&gt;3.12.2&lt;/version&gt;</a:t>
            </a:r>
          </a:p>
          <a:p>
            <a:pPr marL="12700" indent="0">
              <a:buNone/>
            </a:pPr>
            <a:r>
              <a:rPr lang="en-US" sz="800" dirty="0">
                <a:latin typeface="Consolas" panose="020B0609020204030204" pitchFamily="49" charset="0"/>
              </a:rPr>
              <a:t>   &lt;/dependency&gt;</a:t>
            </a:r>
          </a:p>
          <a:p>
            <a:pPr marL="12700" indent="0">
              <a:buNone/>
            </a:pPr>
            <a:r>
              <a:rPr lang="en-US" sz="800" dirty="0">
                <a:latin typeface="Consolas" panose="020B0609020204030204" pitchFamily="49" charset="0"/>
              </a:rPr>
              <a:t>&lt;/dependencies&gt;</a:t>
            </a:r>
          </a:p>
        </p:txBody>
      </p:sp>
      <p:sp>
        <p:nvSpPr>
          <p:cNvPr id="4" name="Pladsholder til tekst 2">
            <a:extLst>
              <a:ext uri="{FF2B5EF4-FFF2-40B4-BE49-F238E27FC236}">
                <a16:creationId xmlns:a16="http://schemas.microsoft.com/office/drawing/2014/main" id="{1B8446E8-F0C7-3440-78BB-C463D9A521A0}"/>
              </a:ext>
            </a:extLst>
          </p:cNvPr>
          <p:cNvSpPr txBox="1">
            <a:spLocks/>
          </p:cNvSpPr>
          <p:nvPr/>
        </p:nvSpPr>
        <p:spPr>
          <a:xfrm>
            <a:off x="1131636" y="1009981"/>
            <a:ext cx="4720523" cy="565875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44500" algn="l" rtl="0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73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»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&lt;plugin&gt;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&lt;</a:t>
            </a:r>
            <a:r>
              <a:rPr lang="en-US" sz="800" dirty="0" err="1">
                <a:latin typeface="Consolas" panose="020B0609020204030204" pitchFamily="49" charset="0"/>
              </a:rPr>
              <a:t>groupId</a:t>
            </a:r>
            <a:r>
              <a:rPr lang="en-US" sz="800" dirty="0">
                <a:latin typeface="Consolas" panose="020B0609020204030204" pitchFamily="49" charset="0"/>
              </a:rPr>
              <a:t>&gt;com.github.os72&lt;/</a:t>
            </a:r>
            <a:r>
              <a:rPr lang="en-US" sz="800" dirty="0" err="1">
                <a:latin typeface="Consolas" panose="020B0609020204030204" pitchFamily="49" charset="0"/>
              </a:rPr>
              <a:t>groupId</a:t>
            </a:r>
            <a:r>
              <a:rPr lang="en-US" sz="800" dirty="0">
                <a:latin typeface="Consolas" panose="020B0609020204030204" pitchFamily="49" charset="0"/>
              </a:rPr>
              <a:t>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&lt;</a:t>
            </a:r>
            <a:r>
              <a:rPr lang="en-US" sz="800" dirty="0" err="1">
                <a:latin typeface="Consolas" panose="020B0609020204030204" pitchFamily="49" charset="0"/>
              </a:rPr>
              <a:t>artifactId</a:t>
            </a:r>
            <a:r>
              <a:rPr lang="en-US" sz="800" dirty="0">
                <a:latin typeface="Consolas" panose="020B0609020204030204" pitchFamily="49" charset="0"/>
              </a:rPr>
              <a:t>&gt;</a:t>
            </a:r>
            <a:r>
              <a:rPr lang="en-US" sz="800" dirty="0" err="1">
                <a:latin typeface="Consolas" panose="020B0609020204030204" pitchFamily="49" charset="0"/>
              </a:rPr>
              <a:t>protoc</a:t>
            </a:r>
            <a:r>
              <a:rPr lang="en-US" sz="800" dirty="0">
                <a:latin typeface="Consolas" panose="020B0609020204030204" pitchFamily="49" charset="0"/>
              </a:rPr>
              <a:t>-jar-maven-plugin&lt;/</a:t>
            </a:r>
            <a:r>
              <a:rPr lang="en-US" sz="800" dirty="0" err="1">
                <a:latin typeface="Consolas" panose="020B0609020204030204" pitchFamily="49" charset="0"/>
              </a:rPr>
              <a:t>artifactId</a:t>
            </a:r>
            <a:r>
              <a:rPr lang="en-US" sz="800" dirty="0">
                <a:latin typeface="Consolas" panose="020B0609020204030204" pitchFamily="49" charset="0"/>
              </a:rPr>
              <a:t>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&lt;version&gt;3.11.4&lt;/version&gt;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&lt;executions&gt;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&lt;execution&gt;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    &lt;phase&gt;generate-sources&lt;/phase&gt;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    &lt;goals&gt;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        &lt;goal&gt;run&lt;/goal&gt;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    &lt;/goals&gt;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    &lt;configuration&gt;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        &lt;</a:t>
            </a:r>
            <a:r>
              <a:rPr lang="en-US" sz="800" dirty="0" err="1">
                <a:latin typeface="Consolas" panose="020B0609020204030204" pitchFamily="49" charset="0"/>
              </a:rPr>
              <a:t>inputDirectories</a:t>
            </a:r>
            <a:r>
              <a:rPr lang="en-US" sz="800" dirty="0">
                <a:latin typeface="Consolas" panose="020B0609020204030204" pitchFamily="49" charset="0"/>
              </a:rPr>
              <a:t>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          &lt;include&gt;${</a:t>
            </a:r>
            <a:r>
              <a:rPr lang="en-US" sz="800" dirty="0" err="1">
                <a:latin typeface="Consolas" panose="020B0609020204030204" pitchFamily="49" charset="0"/>
              </a:rPr>
              <a:t>project.basedir</a:t>
            </a:r>
            <a:r>
              <a:rPr lang="en-US" sz="800" dirty="0">
                <a:latin typeface="Consolas" panose="020B0609020204030204" pitchFamily="49" charset="0"/>
              </a:rPr>
              <a:t>}/</a:t>
            </a:r>
            <a:r>
              <a:rPr lang="en-US" sz="800" dirty="0" err="1">
                <a:latin typeface="Consolas" panose="020B0609020204030204" pitchFamily="49" charset="0"/>
              </a:rPr>
              <a:t>src</a:t>
            </a:r>
            <a:r>
              <a:rPr lang="en-US" sz="800" dirty="0">
                <a:latin typeface="Consolas" panose="020B0609020204030204" pitchFamily="49" charset="0"/>
              </a:rPr>
              <a:t>/main/</a:t>
            </a:r>
            <a:r>
              <a:rPr lang="en-US" sz="800" dirty="0" err="1">
                <a:latin typeface="Consolas" panose="020B0609020204030204" pitchFamily="49" charset="0"/>
              </a:rPr>
              <a:t>protobuf</a:t>
            </a:r>
            <a:r>
              <a:rPr lang="en-US" sz="800" dirty="0">
                <a:latin typeface="Consolas" panose="020B0609020204030204" pitchFamily="49" charset="0"/>
              </a:rPr>
              <a:t>&lt;/include&gt;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        &lt;/</a:t>
            </a:r>
            <a:r>
              <a:rPr lang="en-US" sz="800" dirty="0" err="1">
                <a:latin typeface="Consolas" panose="020B0609020204030204" pitchFamily="49" charset="0"/>
              </a:rPr>
              <a:t>inputDirectories</a:t>
            </a:r>
            <a:r>
              <a:rPr lang="en-US" sz="800" dirty="0">
                <a:latin typeface="Consolas" panose="020B0609020204030204" pitchFamily="49" charset="0"/>
              </a:rPr>
              <a:t>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        &lt;</a:t>
            </a:r>
            <a:r>
              <a:rPr lang="en-US" sz="800" dirty="0" err="1">
                <a:latin typeface="Consolas" panose="020B0609020204030204" pitchFamily="49" charset="0"/>
              </a:rPr>
              <a:t>outputTargets</a:t>
            </a:r>
            <a:r>
              <a:rPr lang="en-US" sz="800" dirty="0">
                <a:latin typeface="Consolas" panose="020B0609020204030204" pitchFamily="49" charset="0"/>
              </a:rPr>
              <a:t>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            &lt;</a:t>
            </a:r>
            <a:r>
              <a:rPr lang="en-US" sz="800" dirty="0" err="1">
                <a:latin typeface="Consolas" panose="020B0609020204030204" pitchFamily="49" charset="0"/>
              </a:rPr>
              <a:t>outputTarget</a:t>
            </a:r>
            <a:r>
              <a:rPr lang="en-US" sz="800" dirty="0">
                <a:latin typeface="Consolas" panose="020B0609020204030204" pitchFamily="49" charset="0"/>
              </a:rPr>
              <a:t>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                &lt;type&gt;java&lt;/type&gt;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                &lt;</a:t>
            </a:r>
            <a:r>
              <a:rPr lang="en-US" sz="800" dirty="0" err="1">
                <a:latin typeface="Consolas" panose="020B0609020204030204" pitchFamily="49" charset="0"/>
              </a:rPr>
              <a:t>addSources</a:t>
            </a:r>
            <a:r>
              <a:rPr lang="en-US" sz="800" dirty="0">
                <a:latin typeface="Consolas" panose="020B0609020204030204" pitchFamily="49" charset="0"/>
              </a:rPr>
              <a:t>&gt;main&lt;/</a:t>
            </a:r>
            <a:r>
              <a:rPr lang="en-US" sz="800" dirty="0" err="1">
                <a:latin typeface="Consolas" panose="020B0609020204030204" pitchFamily="49" charset="0"/>
              </a:rPr>
              <a:t>addSources</a:t>
            </a:r>
            <a:r>
              <a:rPr lang="en-US" sz="800" dirty="0">
                <a:latin typeface="Consolas" panose="020B0609020204030204" pitchFamily="49" charset="0"/>
              </a:rPr>
              <a:t>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            &lt;</a:t>
            </a:r>
            <a:r>
              <a:rPr lang="en-US" sz="800" dirty="0" err="1">
                <a:latin typeface="Consolas" panose="020B0609020204030204" pitchFamily="49" charset="0"/>
              </a:rPr>
              <a:t>outputDirectory</a:t>
            </a:r>
            <a:r>
              <a:rPr lang="en-US" sz="800" dirty="0">
                <a:latin typeface="Consolas" panose="020B0609020204030204" pitchFamily="49" charset="0"/>
              </a:rPr>
              <a:t>&gt;${</a:t>
            </a:r>
            <a:r>
              <a:rPr lang="en-US" sz="800" dirty="0" err="1">
                <a:latin typeface="Consolas" panose="020B0609020204030204" pitchFamily="49" charset="0"/>
              </a:rPr>
              <a:t>project.basedir</a:t>
            </a:r>
            <a:r>
              <a:rPr lang="en-US" sz="800" dirty="0">
                <a:latin typeface="Consolas" panose="020B0609020204030204" pitchFamily="49" charset="0"/>
              </a:rPr>
              <a:t>}/target/generated-sources/</a:t>
            </a:r>
            <a:r>
              <a:rPr lang="en-US" sz="800" dirty="0" err="1">
                <a:latin typeface="Consolas" panose="020B0609020204030204" pitchFamily="49" charset="0"/>
              </a:rPr>
              <a:t>protobuf</a:t>
            </a:r>
            <a:r>
              <a:rPr lang="en-US" sz="800" dirty="0">
                <a:latin typeface="Consolas" panose="020B0609020204030204" pitchFamily="49" charset="0"/>
              </a:rPr>
              <a:t>&lt;/</a:t>
            </a:r>
            <a:r>
              <a:rPr lang="en-US" sz="800" dirty="0" err="1">
                <a:latin typeface="Consolas" panose="020B0609020204030204" pitchFamily="49" charset="0"/>
              </a:rPr>
              <a:t>outputDirectory</a:t>
            </a:r>
            <a:r>
              <a:rPr lang="en-US" sz="800" dirty="0">
                <a:latin typeface="Consolas" panose="020B0609020204030204" pitchFamily="49" charset="0"/>
              </a:rPr>
              <a:t>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            &lt;/</a:t>
            </a:r>
            <a:r>
              <a:rPr lang="en-US" sz="800" dirty="0" err="1">
                <a:latin typeface="Consolas" panose="020B0609020204030204" pitchFamily="49" charset="0"/>
              </a:rPr>
              <a:t>outputTarget</a:t>
            </a:r>
            <a:r>
              <a:rPr lang="en-US" sz="800" dirty="0">
                <a:latin typeface="Consolas" panose="020B0609020204030204" pitchFamily="49" charset="0"/>
              </a:rPr>
              <a:t>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        &lt;/</a:t>
            </a:r>
            <a:r>
              <a:rPr lang="en-US" sz="800" dirty="0" err="1">
                <a:latin typeface="Consolas" panose="020B0609020204030204" pitchFamily="49" charset="0"/>
              </a:rPr>
              <a:t>outputTargets</a:t>
            </a:r>
            <a:r>
              <a:rPr lang="en-US" sz="800" dirty="0">
                <a:latin typeface="Consolas" panose="020B0609020204030204" pitchFamily="49" charset="0"/>
              </a:rPr>
              <a:t>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    &lt;/configuration&gt;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    &lt;/execution&gt;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    &lt;/executions&gt;</a:t>
            </a:r>
          </a:p>
          <a:p>
            <a:pPr marL="12700" indent="0">
              <a:buFont typeface="Arial"/>
              <a:buNone/>
            </a:pPr>
            <a:r>
              <a:rPr lang="en-US" sz="800" dirty="0">
                <a:latin typeface="Consolas" panose="020B0609020204030204" pitchFamily="49" charset="0"/>
              </a:rPr>
              <a:t>&lt;/plugin&gt;</a:t>
            </a:r>
          </a:p>
        </p:txBody>
      </p:sp>
    </p:spTree>
    <p:extLst>
      <p:ext uri="{BB962C8B-B14F-4D97-AF65-F5344CB8AC3E}">
        <p14:creationId xmlns:p14="http://schemas.microsoft.com/office/powerpoint/2010/main" val="1085921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D53518-2CD0-474C-E35C-1F06C27C3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Writing producer</a:t>
            </a:r>
            <a:endParaRPr lang="en-US" dirty="0"/>
          </a:p>
        </p:txBody>
      </p:sp>
      <p:sp>
        <p:nvSpPr>
          <p:cNvPr id="4" name="Pladsholder til tekst 2">
            <a:extLst>
              <a:ext uri="{FF2B5EF4-FFF2-40B4-BE49-F238E27FC236}">
                <a16:creationId xmlns:a16="http://schemas.microsoft.com/office/drawing/2014/main" id="{1B8446E8-F0C7-3440-78BB-C463D9A521A0}"/>
              </a:ext>
            </a:extLst>
          </p:cNvPr>
          <p:cNvSpPr txBox="1">
            <a:spLocks/>
          </p:cNvSpPr>
          <p:nvPr/>
        </p:nvSpPr>
        <p:spPr>
          <a:xfrm>
            <a:off x="530146" y="1524596"/>
            <a:ext cx="9020331" cy="502505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44500" algn="l" rtl="0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73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»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Properties </a:t>
            </a:r>
            <a:r>
              <a:rPr lang="en-US" sz="1000" dirty="0" err="1">
                <a:latin typeface="Consolas" panose="020B0609020204030204" pitchFamily="49" charset="0"/>
              </a:rPr>
              <a:t>properties</a:t>
            </a:r>
            <a:r>
              <a:rPr lang="en-US" sz="1000" dirty="0">
                <a:latin typeface="Consolas" panose="020B0609020204030204" pitchFamily="49" charset="0"/>
              </a:rPr>
              <a:t> = new Properties();</a:t>
            </a: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properties.put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ProducerConfig.BOOTSTRAP_SERVERS_CONFIG</a:t>
            </a:r>
            <a:r>
              <a:rPr lang="en-US" sz="1000" dirty="0">
                <a:latin typeface="Consolas" panose="020B0609020204030204" pitchFamily="49" charset="0"/>
              </a:rPr>
              <a:t>, "localhost:9092");</a:t>
            </a: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properties.put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ProducerConfig.KEY_SERIALIZER_CLASS_CONFIG</a:t>
            </a:r>
            <a:r>
              <a:rPr lang="en-US" sz="1000" dirty="0">
                <a:latin typeface="Consolas" panose="020B0609020204030204" pitchFamily="49" charset="0"/>
              </a:rPr>
              <a:t>, </a:t>
            </a:r>
            <a:r>
              <a:rPr lang="en-US" sz="1000" dirty="0" err="1">
                <a:latin typeface="Consolas" panose="020B0609020204030204" pitchFamily="49" charset="0"/>
              </a:rPr>
              <a:t>StringSerializer.class</a:t>
            </a:r>
            <a:r>
              <a:rPr lang="en-US" sz="1000" dirty="0">
                <a:latin typeface="Consolas" panose="020B0609020204030204" pitchFamily="49" charset="0"/>
              </a:rPr>
              <a:t>);</a:t>
            </a:r>
          </a:p>
          <a:p>
            <a:pPr marL="12700" indent="0">
              <a:buFont typeface="Arial"/>
              <a:buNone/>
            </a:pPr>
            <a:r>
              <a:rPr lang="en-US" sz="1000" b="1" dirty="0" err="1">
                <a:latin typeface="Consolas" panose="020B0609020204030204" pitchFamily="49" charset="0"/>
              </a:rPr>
              <a:t>properties.put</a:t>
            </a:r>
            <a:r>
              <a:rPr lang="en-US" sz="1000" b="1" dirty="0">
                <a:latin typeface="Consolas" panose="020B0609020204030204" pitchFamily="49" charset="0"/>
              </a:rPr>
              <a:t>(</a:t>
            </a:r>
            <a:r>
              <a:rPr lang="en-US" sz="1000" b="1" dirty="0" err="1">
                <a:latin typeface="Consolas" panose="020B0609020204030204" pitchFamily="49" charset="0"/>
              </a:rPr>
              <a:t>ProducerConfig.VALUE_SERIALIZER_CLASS_CONFIG</a:t>
            </a:r>
            <a:r>
              <a:rPr lang="en-US" sz="1000" b="1" dirty="0">
                <a:latin typeface="Consolas" panose="020B0609020204030204" pitchFamily="49" charset="0"/>
              </a:rPr>
              <a:t>, </a:t>
            </a:r>
            <a:r>
              <a:rPr lang="en-US" sz="1000" b="1" dirty="0" err="1">
                <a:latin typeface="Consolas" panose="020B0609020204030204" pitchFamily="49" charset="0"/>
              </a:rPr>
              <a:t>KafkaProtobufSerializer.class</a:t>
            </a:r>
            <a:r>
              <a:rPr lang="en-US" sz="1000" b="1" dirty="0">
                <a:latin typeface="Consolas" panose="020B0609020204030204" pitchFamily="49" charset="0"/>
              </a:rPr>
              <a:t>);</a:t>
            </a:r>
          </a:p>
          <a:p>
            <a:pPr marL="12700" indent="0">
              <a:buFont typeface="Arial"/>
              <a:buNone/>
            </a:pPr>
            <a:r>
              <a:rPr lang="en-US" sz="1000" b="1" dirty="0" err="1">
                <a:latin typeface="Consolas" panose="020B0609020204030204" pitchFamily="49" charset="0"/>
              </a:rPr>
              <a:t>properties.put</a:t>
            </a:r>
            <a:r>
              <a:rPr lang="en-US" sz="1000" b="1" dirty="0">
                <a:latin typeface="Consolas" panose="020B0609020204030204" pitchFamily="49" charset="0"/>
              </a:rPr>
              <a:t>(</a:t>
            </a:r>
            <a:r>
              <a:rPr lang="en-US" sz="1000" b="1" dirty="0" err="1">
                <a:latin typeface="Consolas" panose="020B0609020204030204" pitchFamily="49" charset="0"/>
              </a:rPr>
              <a:t>KafkaProtobufSerializerConfig.SCHEMA_REGISTRY_URL_CONFIG</a:t>
            </a:r>
            <a:r>
              <a:rPr lang="en-US" sz="1000" b="1" dirty="0">
                <a:latin typeface="Consolas" panose="020B0609020204030204" pitchFamily="49" charset="0"/>
              </a:rPr>
              <a:t>, "http://localhost:8081");</a:t>
            </a:r>
          </a:p>
          <a:p>
            <a:pPr marL="12700" indent="0">
              <a:buFont typeface="Arial"/>
              <a:buNone/>
            </a:pPr>
            <a:endParaRPr lang="en-US" sz="1000" dirty="0">
              <a:latin typeface="Consolas" panose="020B0609020204030204" pitchFamily="49" charset="0"/>
            </a:endParaRPr>
          </a:p>
          <a:p>
            <a:pPr marL="12700" indent="0">
              <a:buFont typeface="Arial"/>
              <a:buNone/>
            </a:pPr>
            <a:r>
              <a:rPr lang="en-US" sz="1000" b="1" dirty="0" err="1">
                <a:latin typeface="Consolas" panose="020B0609020204030204" pitchFamily="49" charset="0"/>
              </a:rPr>
              <a:t>properties.put</a:t>
            </a:r>
            <a:r>
              <a:rPr lang="en-US" sz="1000" b="1" dirty="0">
                <a:latin typeface="Consolas" panose="020B0609020204030204" pitchFamily="49" charset="0"/>
              </a:rPr>
              <a:t>("</a:t>
            </a:r>
            <a:r>
              <a:rPr lang="en-US" sz="1000" b="1" dirty="0" err="1">
                <a:latin typeface="Consolas" panose="020B0609020204030204" pitchFamily="49" charset="0"/>
              </a:rPr>
              <a:t>auto.register.schemas</a:t>
            </a:r>
            <a:r>
              <a:rPr lang="en-US" sz="1000" b="1" dirty="0">
                <a:latin typeface="Consolas" panose="020B0609020204030204" pitchFamily="49" charset="0"/>
              </a:rPr>
              <a:t>", false);</a:t>
            </a:r>
          </a:p>
          <a:p>
            <a:pPr marL="12700" indent="0">
              <a:buFont typeface="Arial"/>
              <a:buNone/>
            </a:pPr>
            <a:endParaRPr lang="en-US" sz="1000" dirty="0">
              <a:latin typeface="Consolas" panose="020B0609020204030204" pitchFamily="49" charset="0"/>
            </a:endParaRP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Producer&lt;String, </a:t>
            </a:r>
            <a:r>
              <a:rPr lang="en-US" sz="1000" dirty="0" err="1">
                <a:latin typeface="Consolas" panose="020B0609020204030204" pitchFamily="49" charset="0"/>
              </a:rPr>
              <a:t>SimpleMessage</a:t>
            </a:r>
            <a:r>
              <a:rPr lang="en-US" sz="1000" dirty="0">
                <a:latin typeface="Consolas" panose="020B0609020204030204" pitchFamily="49" charset="0"/>
              </a:rPr>
              <a:t>&gt; producer = new </a:t>
            </a:r>
            <a:r>
              <a:rPr lang="en-US" sz="1000" dirty="0" err="1">
                <a:latin typeface="Consolas" panose="020B0609020204030204" pitchFamily="49" charset="0"/>
              </a:rPr>
              <a:t>KafkaProducer</a:t>
            </a:r>
            <a:r>
              <a:rPr lang="en-US" sz="1000" dirty="0">
                <a:latin typeface="Consolas" panose="020B0609020204030204" pitchFamily="49" charset="0"/>
              </a:rPr>
              <a:t>&lt;&gt;(properties);</a:t>
            </a:r>
          </a:p>
          <a:p>
            <a:pPr marL="12700" indent="0">
              <a:buFont typeface="Arial"/>
              <a:buNone/>
            </a:pPr>
            <a:endParaRPr lang="en-US" sz="1000" dirty="0">
              <a:latin typeface="Consolas" panose="020B0609020204030204" pitchFamily="49" charset="0"/>
            </a:endParaRP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SimpleMessage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simpleMessage</a:t>
            </a:r>
            <a:r>
              <a:rPr lang="en-US" sz="1000" dirty="0">
                <a:latin typeface="Consolas" panose="020B0609020204030204" pitchFamily="49" charset="0"/>
              </a:rPr>
              <a:t> = </a:t>
            </a:r>
            <a:r>
              <a:rPr lang="en-US" sz="1000" dirty="0" err="1">
                <a:latin typeface="Consolas" panose="020B0609020204030204" pitchFamily="49" charset="0"/>
              </a:rPr>
              <a:t>SimpleMessage.newBuilder</a:t>
            </a:r>
            <a:r>
              <a:rPr lang="en-US" sz="1000" dirty="0">
                <a:latin typeface="Consolas" panose="020B0609020204030204" pitchFamily="49" charset="0"/>
              </a:rPr>
              <a:t>()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    	.</a:t>
            </a:r>
            <a:r>
              <a:rPr lang="en-US" sz="1000" dirty="0" err="1">
                <a:latin typeface="Consolas" panose="020B0609020204030204" pitchFamily="49" charset="0"/>
              </a:rPr>
              <a:t>setContent</a:t>
            </a:r>
            <a:r>
              <a:rPr lang="en-US" sz="1000" dirty="0">
                <a:latin typeface="Consolas" panose="020B0609020204030204" pitchFamily="49" charset="0"/>
              </a:rPr>
              <a:t>("Hello world")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        .</a:t>
            </a:r>
            <a:r>
              <a:rPr lang="en-US" sz="1000" dirty="0" err="1">
                <a:latin typeface="Consolas" panose="020B0609020204030204" pitchFamily="49" charset="0"/>
              </a:rPr>
              <a:t>setDateTime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Instant.now</a:t>
            </a:r>
            <a:r>
              <a:rPr lang="en-US" sz="1000" dirty="0">
                <a:latin typeface="Consolas" panose="020B0609020204030204" pitchFamily="49" charset="0"/>
              </a:rPr>
              <a:t>().</a:t>
            </a:r>
            <a:r>
              <a:rPr lang="en-US" sz="1000" dirty="0" err="1">
                <a:latin typeface="Consolas" panose="020B0609020204030204" pitchFamily="49" charset="0"/>
              </a:rPr>
              <a:t>toString</a:t>
            </a:r>
            <a:r>
              <a:rPr lang="en-US" sz="1000" dirty="0">
                <a:latin typeface="Consolas" panose="020B0609020204030204" pitchFamily="49" charset="0"/>
              </a:rPr>
              <a:t>())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        .build();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				</a:t>
            </a: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ProducerRecord</a:t>
            </a:r>
            <a:r>
              <a:rPr lang="en-US" sz="1000" dirty="0">
                <a:latin typeface="Consolas" panose="020B0609020204030204" pitchFamily="49" charset="0"/>
              </a:rPr>
              <a:t>&lt;String, </a:t>
            </a:r>
            <a:r>
              <a:rPr lang="en-US" sz="1000" dirty="0" err="1">
                <a:latin typeface="Consolas" panose="020B0609020204030204" pitchFamily="49" charset="0"/>
              </a:rPr>
              <a:t>SimpleMessage</a:t>
            </a:r>
            <a:r>
              <a:rPr lang="en-US" sz="1000" dirty="0">
                <a:latin typeface="Consolas" panose="020B0609020204030204" pitchFamily="49" charset="0"/>
              </a:rPr>
              <a:t>&gt; record = new </a:t>
            </a:r>
            <a:r>
              <a:rPr lang="en-US" sz="1000" dirty="0" err="1">
                <a:latin typeface="Consolas" panose="020B0609020204030204" pitchFamily="49" charset="0"/>
              </a:rPr>
              <a:t>ProducerRecord</a:t>
            </a:r>
            <a:r>
              <a:rPr lang="en-US" sz="1000" dirty="0">
                <a:latin typeface="Consolas" panose="020B0609020204030204" pitchFamily="49" charset="0"/>
              </a:rPr>
              <a:t>&lt;&gt;("</a:t>
            </a:r>
            <a:r>
              <a:rPr lang="en-US" sz="1000" dirty="0" err="1">
                <a:latin typeface="Consolas" panose="020B0609020204030204" pitchFamily="49" charset="0"/>
              </a:rPr>
              <a:t>protobuf</a:t>
            </a:r>
            <a:r>
              <a:rPr lang="en-US" sz="1000" dirty="0">
                <a:latin typeface="Consolas" panose="020B0609020204030204" pitchFamily="49" charset="0"/>
              </a:rPr>
              <a:t>-topic", null, </a:t>
            </a:r>
            <a:r>
              <a:rPr lang="en-US" sz="1000" dirty="0" err="1">
                <a:latin typeface="Consolas" panose="020B0609020204030204" pitchFamily="49" charset="0"/>
              </a:rPr>
              <a:t>simpleMessage</a:t>
            </a:r>
            <a:r>
              <a:rPr lang="en-US" sz="1000" dirty="0">
                <a:latin typeface="Consolas" panose="020B0609020204030204" pitchFamily="49" charset="0"/>
              </a:rPr>
              <a:t>);	</a:t>
            </a: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producer.send</a:t>
            </a:r>
            <a:r>
              <a:rPr lang="en-US" sz="1000" dirty="0">
                <a:latin typeface="Consolas" panose="020B0609020204030204" pitchFamily="49" charset="0"/>
              </a:rPr>
              <a:t>(record);</a:t>
            </a: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producer.flush</a:t>
            </a:r>
            <a:r>
              <a:rPr lang="en-US" sz="1000" dirty="0">
                <a:latin typeface="Consolas" panose="020B0609020204030204" pitchFamily="49" charset="0"/>
              </a:rPr>
              <a:t>();</a:t>
            </a: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producer.close</a:t>
            </a:r>
            <a:r>
              <a:rPr lang="en-US" sz="1000" dirty="0"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8" name="Pil: venstre 7">
            <a:extLst>
              <a:ext uri="{FF2B5EF4-FFF2-40B4-BE49-F238E27FC236}">
                <a16:creationId xmlns:a16="http://schemas.microsoft.com/office/drawing/2014/main" id="{CE66EFFD-2F4E-5B48-BCE9-8F9FDC4B8942}"/>
              </a:ext>
            </a:extLst>
          </p:cNvPr>
          <p:cNvSpPr/>
          <p:nvPr/>
        </p:nvSpPr>
        <p:spPr>
          <a:xfrm rot="2213185">
            <a:off x="6332751" y="3729901"/>
            <a:ext cx="3032405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Serializer</a:t>
            </a:r>
            <a:r>
              <a:rPr lang="da-DK" dirty="0"/>
              <a:t> and pointer to </a:t>
            </a:r>
            <a:r>
              <a:rPr lang="da-DK" dirty="0" err="1"/>
              <a:t>registry</a:t>
            </a:r>
            <a:endParaRPr lang="en-US" dirty="0"/>
          </a:p>
        </p:txBody>
      </p:sp>
      <p:sp>
        <p:nvSpPr>
          <p:cNvPr id="10" name="Pil: venstre 9">
            <a:extLst>
              <a:ext uri="{FF2B5EF4-FFF2-40B4-BE49-F238E27FC236}">
                <a16:creationId xmlns:a16="http://schemas.microsoft.com/office/drawing/2014/main" id="{2A9DB850-CB78-B276-9540-7577F9CF286E}"/>
              </a:ext>
            </a:extLst>
          </p:cNvPr>
          <p:cNvSpPr/>
          <p:nvPr/>
        </p:nvSpPr>
        <p:spPr>
          <a:xfrm rot="1488253">
            <a:off x="3645016" y="3863207"/>
            <a:ext cx="3263434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Register </a:t>
            </a:r>
            <a:r>
              <a:rPr lang="da-DK" dirty="0" err="1"/>
              <a:t>schema</a:t>
            </a:r>
            <a:r>
              <a:rPr lang="da-DK" dirty="0"/>
              <a:t> </a:t>
            </a:r>
            <a:r>
              <a:rPr lang="da-DK" dirty="0" err="1"/>
              <a:t>if</a:t>
            </a:r>
            <a:r>
              <a:rPr lang="da-DK" dirty="0"/>
              <a:t> it </a:t>
            </a:r>
            <a:r>
              <a:rPr lang="da-DK" dirty="0" err="1"/>
              <a:t>does</a:t>
            </a:r>
            <a:r>
              <a:rPr lang="da-DK" dirty="0"/>
              <a:t> not </a:t>
            </a:r>
            <a:r>
              <a:rPr lang="da-DK" dirty="0" err="1"/>
              <a:t>exist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370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D53518-2CD0-474C-E35C-1F06C27C3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Writing </a:t>
            </a:r>
            <a:r>
              <a:rPr lang="da-DK" dirty="0" err="1"/>
              <a:t>consumer</a:t>
            </a:r>
            <a:endParaRPr lang="en-US" dirty="0"/>
          </a:p>
        </p:txBody>
      </p:sp>
      <p:sp>
        <p:nvSpPr>
          <p:cNvPr id="4" name="Pladsholder til tekst 2">
            <a:extLst>
              <a:ext uri="{FF2B5EF4-FFF2-40B4-BE49-F238E27FC236}">
                <a16:creationId xmlns:a16="http://schemas.microsoft.com/office/drawing/2014/main" id="{1B8446E8-F0C7-3440-78BB-C463D9A521A0}"/>
              </a:ext>
            </a:extLst>
          </p:cNvPr>
          <p:cNvSpPr txBox="1">
            <a:spLocks/>
          </p:cNvSpPr>
          <p:nvPr/>
        </p:nvSpPr>
        <p:spPr>
          <a:xfrm>
            <a:off x="304736" y="988773"/>
            <a:ext cx="9020331" cy="522914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44500" algn="l" rtl="0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73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»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Properties </a:t>
            </a:r>
            <a:r>
              <a:rPr lang="en-US" sz="1000" dirty="0" err="1">
                <a:latin typeface="Consolas" panose="020B0609020204030204" pitchFamily="49" charset="0"/>
              </a:rPr>
              <a:t>properties</a:t>
            </a:r>
            <a:r>
              <a:rPr lang="en-US" sz="1000" dirty="0">
                <a:latin typeface="Consolas" panose="020B0609020204030204" pitchFamily="49" charset="0"/>
              </a:rPr>
              <a:t> = new Properties();</a:t>
            </a: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properties.put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ProducerConfig.BOOTSTRAP_SERVERS_CONFIG</a:t>
            </a:r>
            <a:r>
              <a:rPr lang="en-US" sz="1000" dirty="0">
                <a:latin typeface="Consolas" panose="020B0609020204030204" pitchFamily="49" charset="0"/>
              </a:rPr>
              <a:t>, "localhost:9092");</a:t>
            </a: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properties.put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ConsumerConfig.GROUP_ID_CONFIG</a:t>
            </a:r>
            <a:r>
              <a:rPr lang="en-US" sz="1000" dirty="0">
                <a:latin typeface="Consolas" panose="020B0609020204030204" pitchFamily="49" charset="0"/>
              </a:rPr>
              <a:t>, "</a:t>
            </a:r>
            <a:r>
              <a:rPr lang="en-US" sz="1000" dirty="0" err="1">
                <a:latin typeface="Consolas" panose="020B0609020204030204" pitchFamily="49" charset="0"/>
              </a:rPr>
              <a:t>protobuf</a:t>
            </a:r>
            <a:r>
              <a:rPr lang="en-US" sz="1000" dirty="0">
                <a:latin typeface="Consolas" panose="020B0609020204030204" pitchFamily="49" charset="0"/>
              </a:rPr>
              <a:t>-consumer-group");      </a:t>
            </a: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properties.put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ConsumerConfig.AUTO_OFFSET_RESET_CONFIG</a:t>
            </a:r>
            <a:r>
              <a:rPr lang="en-US" sz="1000" dirty="0">
                <a:latin typeface="Consolas" panose="020B0609020204030204" pitchFamily="49" charset="0"/>
              </a:rPr>
              <a:t>, "earliest");</a:t>
            </a: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properties.put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ConsumerConfig.ENABLE_AUTO_COMMIT_CONFIG</a:t>
            </a:r>
            <a:r>
              <a:rPr lang="en-US" sz="1000" dirty="0">
                <a:latin typeface="Consolas" panose="020B0609020204030204" pitchFamily="49" charset="0"/>
              </a:rPr>
              <a:t>, false);</a:t>
            </a:r>
          </a:p>
          <a:p>
            <a:pPr marL="12700" indent="0">
              <a:buFont typeface="Arial"/>
              <a:buNone/>
            </a:pPr>
            <a:endParaRPr lang="en-US" sz="1000" dirty="0">
              <a:latin typeface="Consolas" panose="020B0609020204030204" pitchFamily="49" charset="0"/>
            </a:endParaRP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properties.put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ConsumerConfig.KEY_DESERIALIZER_CLASS_CONFIG</a:t>
            </a:r>
            <a:r>
              <a:rPr lang="en-US" sz="1000" dirty="0">
                <a:latin typeface="Consolas" panose="020B0609020204030204" pitchFamily="49" charset="0"/>
              </a:rPr>
              <a:t>, </a:t>
            </a:r>
            <a:r>
              <a:rPr lang="en-US" sz="1000" dirty="0" err="1">
                <a:latin typeface="Consolas" panose="020B0609020204030204" pitchFamily="49" charset="0"/>
              </a:rPr>
              <a:t>StringDeserializer.class</a:t>
            </a:r>
            <a:r>
              <a:rPr lang="en-US" sz="1000" dirty="0">
                <a:latin typeface="Consolas" panose="020B0609020204030204" pitchFamily="49" charset="0"/>
              </a:rPr>
              <a:t>);</a:t>
            </a:r>
          </a:p>
          <a:p>
            <a:pPr marL="12700" indent="0">
              <a:buFont typeface="Arial"/>
              <a:buNone/>
            </a:pPr>
            <a:r>
              <a:rPr lang="en-US" sz="1000" b="1" dirty="0" err="1">
                <a:latin typeface="Consolas" panose="020B0609020204030204" pitchFamily="49" charset="0"/>
              </a:rPr>
              <a:t>properties.put</a:t>
            </a:r>
            <a:r>
              <a:rPr lang="en-US" sz="1000" b="1" dirty="0">
                <a:latin typeface="Consolas" panose="020B0609020204030204" pitchFamily="49" charset="0"/>
              </a:rPr>
              <a:t>(</a:t>
            </a:r>
            <a:r>
              <a:rPr lang="en-US" sz="1000" b="1" dirty="0" err="1">
                <a:latin typeface="Consolas" panose="020B0609020204030204" pitchFamily="49" charset="0"/>
              </a:rPr>
              <a:t>ConsumerConfig.VALUE_DESERIALIZER_CLASS_CONFIG</a:t>
            </a:r>
            <a:r>
              <a:rPr lang="en-US" sz="1000" b="1" dirty="0">
                <a:latin typeface="Consolas" panose="020B0609020204030204" pitchFamily="49" charset="0"/>
              </a:rPr>
              <a:t>, </a:t>
            </a:r>
            <a:r>
              <a:rPr lang="en-US" sz="1000" b="1" dirty="0" err="1">
                <a:latin typeface="Consolas" panose="020B0609020204030204" pitchFamily="49" charset="0"/>
              </a:rPr>
              <a:t>KafkaProtobufDeserializer.class</a:t>
            </a:r>
            <a:r>
              <a:rPr lang="en-US" sz="1000" b="1" dirty="0">
                <a:latin typeface="Consolas" panose="020B0609020204030204" pitchFamily="49" charset="0"/>
              </a:rPr>
              <a:t>);</a:t>
            </a:r>
          </a:p>
          <a:p>
            <a:pPr marL="12700" indent="0">
              <a:buFont typeface="Arial"/>
              <a:buNone/>
            </a:pPr>
            <a:r>
              <a:rPr lang="en-US" sz="1000" b="1" dirty="0" err="1">
                <a:latin typeface="Consolas" panose="020B0609020204030204" pitchFamily="49" charset="0"/>
              </a:rPr>
              <a:t>properties.put</a:t>
            </a:r>
            <a:r>
              <a:rPr lang="en-US" sz="1000" b="1" dirty="0">
                <a:latin typeface="Consolas" panose="020B0609020204030204" pitchFamily="49" charset="0"/>
              </a:rPr>
              <a:t>(</a:t>
            </a:r>
            <a:r>
              <a:rPr lang="en-US" sz="1000" b="1" dirty="0" err="1">
                <a:latin typeface="Consolas" panose="020B0609020204030204" pitchFamily="49" charset="0"/>
              </a:rPr>
              <a:t>KafkaProtobufDeserializerConfig.SCHEMA_REGISTRY_URL_CONFIG</a:t>
            </a:r>
            <a:r>
              <a:rPr lang="en-US" sz="1000" b="1" dirty="0">
                <a:latin typeface="Consolas" panose="020B0609020204030204" pitchFamily="49" charset="0"/>
              </a:rPr>
              <a:t>, "http://localhost:8081");</a:t>
            </a:r>
          </a:p>
          <a:p>
            <a:pPr marL="12700" indent="0">
              <a:buFont typeface="Arial"/>
              <a:buNone/>
            </a:pPr>
            <a:r>
              <a:rPr lang="en-US" sz="1000" b="1" dirty="0" err="1">
                <a:latin typeface="Consolas" panose="020B0609020204030204" pitchFamily="49" charset="0"/>
              </a:rPr>
              <a:t>properties.put</a:t>
            </a:r>
            <a:r>
              <a:rPr lang="en-US" sz="1000" b="1" dirty="0">
                <a:latin typeface="Consolas" panose="020B0609020204030204" pitchFamily="49" charset="0"/>
              </a:rPr>
              <a:t>(</a:t>
            </a:r>
            <a:r>
              <a:rPr lang="en-US" sz="1000" b="1" dirty="0" err="1">
                <a:latin typeface="Consolas" panose="020B0609020204030204" pitchFamily="49" charset="0"/>
              </a:rPr>
              <a:t>KafkaProtobufDeserializerConfig.SPECIFIC_PROTOBUF_VALUE_TYPE</a:t>
            </a:r>
            <a:r>
              <a:rPr lang="en-US" sz="1000" b="1" dirty="0">
                <a:latin typeface="Consolas" panose="020B0609020204030204" pitchFamily="49" charset="0"/>
              </a:rPr>
              <a:t>, </a:t>
            </a:r>
            <a:r>
              <a:rPr lang="en-US" sz="1000" b="1" dirty="0" err="1">
                <a:latin typeface="Consolas" panose="020B0609020204030204" pitchFamily="49" charset="0"/>
              </a:rPr>
              <a:t>SimpleMessage.class.getName</a:t>
            </a:r>
            <a:r>
              <a:rPr lang="en-US" sz="1000" b="1" dirty="0">
                <a:latin typeface="Consolas" panose="020B0609020204030204" pitchFamily="49" charset="0"/>
              </a:rPr>
              <a:t>());</a:t>
            </a:r>
          </a:p>
          <a:p>
            <a:pPr marL="12700" indent="0">
              <a:buFont typeface="Arial"/>
              <a:buNone/>
            </a:pPr>
            <a:endParaRPr lang="en-US" sz="1000" dirty="0">
              <a:latin typeface="Consolas" panose="020B0609020204030204" pitchFamily="49" charset="0"/>
            </a:endParaRP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KafkaConsumer</a:t>
            </a:r>
            <a:r>
              <a:rPr lang="en-US" sz="1000" dirty="0">
                <a:latin typeface="Consolas" panose="020B0609020204030204" pitchFamily="49" charset="0"/>
              </a:rPr>
              <a:t>&lt;String, </a:t>
            </a:r>
            <a:r>
              <a:rPr lang="en-US" sz="1000" dirty="0" err="1">
                <a:latin typeface="Consolas" panose="020B0609020204030204" pitchFamily="49" charset="0"/>
              </a:rPr>
              <a:t>SimpleMessage</a:t>
            </a:r>
            <a:r>
              <a:rPr lang="en-US" sz="1000" dirty="0">
                <a:latin typeface="Consolas" panose="020B0609020204030204" pitchFamily="49" charset="0"/>
              </a:rPr>
              <a:t>&gt; consumer = new </a:t>
            </a:r>
            <a:r>
              <a:rPr lang="en-US" sz="1000" dirty="0" err="1">
                <a:latin typeface="Consolas" panose="020B0609020204030204" pitchFamily="49" charset="0"/>
              </a:rPr>
              <a:t>KafkaConsumer</a:t>
            </a:r>
            <a:r>
              <a:rPr lang="en-US" sz="1000" dirty="0">
                <a:latin typeface="Consolas" panose="020B0609020204030204" pitchFamily="49" charset="0"/>
              </a:rPr>
              <a:t>&lt;&gt;(properties);</a:t>
            </a: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consumer.subscribe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Collections.singleton</a:t>
            </a:r>
            <a:r>
              <a:rPr lang="en-US" sz="1000" dirty="0">
                <a:latin typeface="Consolas" panose="020B0609020204030204" pitchFamily="49" charset="0"/>
              </a:rPr>
              <a:t>("</a:t>
            </a:r>
            <a:r>
              <a:rPr lang="en-US" sz="1000" dirty="0" err="1">
                <a:latin typeface="Consolas" panose="020B0609020204030204" pitchFamily="49" charset="0"/>
              </a:rPr>
              <a:t>protobuf</a:t>
            </a:r>
            <a:r>
              <a:rPr lang="en-US" sz="1000" dirty="0">
                <a:latin typeface="Consolas" panose="020B0609020204030204" pitchFamily="49" charset="0"/>
              </a:rPr>
              <a:t>-topic"));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while (true) {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	</a:t>
            </a:r>
            <a:r>
              <a:rPr lang="en-US" sz="1000" dirty="0" err="1">
                <a:latin typeface="Consolas" panose="020B0609020204030204" pitchFamily="49" charset="0"/>
              </a:rPr>
              <a:t>ConsumerRecords</a:t>
            </a:r>
            <a:r>
              <a:rPr lang="en-US" sz="1000" dirty="0">
                <a:latin typeface="Consolas" panose="020B0609020204030204" pitchFamily="49" charset="0"/>
              </a:rPr>
              <a:t>&lt;String, </a:t>
            </a:r>
            <a:r>
              <a:rPr lang="en-US" sz="1000" dirty="0" err="1">
                <a:latin typeface="Consolas" panose="020B0609020204030204" pitchFamily="49" charset="0"/>
              </a:rPr>
              <a:t>SimpleMessage</a:t>
            </a:r>
            <a:r>
              <a:rPr lang="en-US" sz="1000" dirty="0">
                <a:latin typeface="Consolas" panose="020B0609020204030204" pitchFamily="49" charset="0"/>
              </a:rPr>
              <a:t>&gt; records = </a:t>
            </a:r>
            <a:r>
              <a:rPr lang="en-US" sz="1000" dirty="0" err="1">
                <a:latin typeface="Consolas" panose="020B0609020204030204" pitchFamily="49" charset="0"/>
              </a:rPr>
              <a:t>consumer.poll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Duration.ofMillis</a:t>
            </a:r>
            <a:r>
              <a:rPr lang="en-US" sz="1000" dirty="0">
                <a:latin typeface="Consolas" panose="020B0609020204030204" pitchFamily="49" charset="0"/>
              </a:rPr>
              <a:t>(100));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	for (</a:t>
            </a:r>
            <a:r>
              <a:rPr lang="en-US" sz="1000" dirty="0" err="1">
                <a:latin typeface="Consolas" panose="020B0609020204030204" pitchFamily="49" charset="0"/>
              </a:rPr>
              <a:t>ConsumerRecord</a:t>
            </a:r>
            <a:r>
              <a:rPr lang="en-US" sz="1000" dirty="0">
                <a:latin typeface="Consolas" panose="020B0609020204030204" pitchFamily="49" charset="0"/>
              </a:rPr>
              <a:t>&lt;String, </a:t>
            </a:r>
            <a:r>
              <a:rPr lang="en-US" sz="1000" dirty="0" err="1">
                <a:latin typeface="Consolas" panose="020B0609020204030204" pitchFamily="49" charset="0"/>
              </a:rPr>
              <a:t>SimpleMessage</a:t>
            </a:r>
            <a:r>
              <a:rPr lang="en-US" sz="1000" dirty="0">
                <a:latin typeface="Consolas" panose="020B0609020204030204" pitchFamily="49" charset="0"/>
              </a:rPr>
              <a:t>&gt; record : records) {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		</a:t>
            </a:r>
            <a:r>
              <a:rPr lang="en-US" sz="1000" dirty="0" err="1">
                <a:latin typeface="Consolas" panose="020B0609020204030204" pitchFamily="49" charset="0"/>
              </a:rPr>
              <a:t>System.out.println</a:t>
            </a:r>
            <a:r>
              <a:rPr lang="en-US" sz="1000" dirty="0">
                <a:latin typeface="Consolas" panose="020B0609020204030204" pitchFamily="49" charset="0"/>
              </a:rPr>
              <a:t>("Message content: " + </a:t>
            </a:r>
            <a:r>
              <a:rPr lang="en-US" sz="1000" dirty="0" err="1">
                <a:latin typeface="Consolas" panose="020B0609020204030204" pitchFamily="49" charset="0"/>
              </a:rPr>
              <a:t>record.value</a:t>
            </a:r>
            <a:r>
              <a:rPr lang="en-US" sz="1000" dirty="0">
                <a:latin typeface="Consolas" panose="020B0609020204030204" pitchFamily="49" charset="0"/>
              </a:rPr>
              <a:t>().</a:t>
            </a:r>
            <a:r>
              <a:rPr lang="en-US" sz="1000" dirty="0" err="1">
                <a:latin typeface="Consolas" panose="020B0609020204030204" pitchFamily="49" charset="0"/>
              </a:rPr>
              <a:t>getContent</a:t>
            </a:r>
            <a:r>
              <a:rPr lang="en-US" sz="1000" dirty="0">
                <a:latin typeface="Consolas" panose="020B0609020204030204" pitchFamily="49" charset="0"/>
              </a:rPr>
              <a:t>());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		</a:t>
            </a:r>
            <a:r>
              <a:rPr lang="en-US" sz="1000" dirty="0" err="1">
                <a:latin typeface="Consolas" panose="020B0609020204030204" pitchFamily="49" charset="0"/>
              </a:rPr>
              <a:t>System.out.println</a:t>
            </a:r>
            <a:r>
              <a:rPr lang="en-US" sz="1000" dirty="0">
                <a:latin typeface="Consolas" panose="020B0609020204030204" pitchFamily="49" charset="0"/>
              </a:rPr>
              <a:t>("Message time: " + </a:t>
            </a:r>
            <a:r>
              <a:rPr lang="en-US" sz="1000" dirty="0" err="1">
                <a:latin typeface="Consolas" panose="020B0609020204030204" pitchFamily="49" charset="0"/>
              </a:rPr>
              <a:t>record.value</a:t>
            </a:r>
            <a:r>
              <a:rPr lang="en-US" sz="1000" dirty="0">
                <a:latin typeface="Consolas" panose="020B0609020204030204" pitchFamily="49" charset="0"/>
              </a:rPr>
              <a:t>().</a:t>
            </a:r>
            <a:r>
              <a:rPr lang="en-US" sz="1000" dirty="0" err="1">
                <a:latin typeface="Consolas" panose="020B0609020204030204" pitchFamily="49" charset="0"/>
              </a:rPr>
              <a:t>getDateTime</a:t>
            </a:r>
            <a:r>
              <a:rPr lang="en-US" sz="1000" dirty="0">
                <a:latin typeface="Consolas" panose="020B0609020204030204" pitchFamily="49" charset="0"/>
              </a:rPr>
              <a:t>());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	}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	</a:t>
            </a:r>
            <a:r>
              <a:rPr lang="en-US" sz="1000" dirty="0" err="1">
                <a:latin typeface="Consolas" panose="020B0609020204030204" pitchFamily="49" charset="0"/>
              </a:rPr>
              <a:t>consumer.commitAsync</a:t>
            </a:r>
            <a:r>
              <a:rPr lang="en-US" sz="1000" dirty="0">
                <a:latin typeface="Consolas" panose="020B0609020204030204" pitchFamily="49" charset="0"/>
              </a:rPr>
              <a:t>();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Pil: venstre 4">
            <a:extLst>
              <a:ext uri="{FF2B5EF4-FFF2-40B4-BE49-F238E27FC236}">
                <a16:creationId xmlns:a16="http://schemas.microsoft.com/office/drawing/2014/main" id="{9FE73D92-ADEC-1A44-8C62-652B6925C33C}"/>
              </a:ext>
            </a:extLst>
          </p:cNvPr>
          <p:cNvSpPr/>
          <p:nvPr/>
        </p:nvSpPr>
        <p:spPr>
          <a:xfrm rot="20291024">
            <a:off x="6664747" y="1910179"/>
            <a:ext cx="3174589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Deserializer</a:t>
            </a:r>
            <a:r>
              <a:rPr lang="da-DK" dirty="0"/>
              <a:t> and pointer to </a:t>
            </a:r>
            <a:r>
              <a:rPr lang="da-DK" dirty="0" err="1"/>
              <a:t>registry</a:t>
            </a:r>
            <a:endParaRPr lang="en-US" dirty="0"/>
          </a:p>
        </p:txBody>
      </p:sp>
      <p:sp>
        <p:nvSpPr>
          <p:cNvPr id="6" name="Pil: venstre 5">
            <a:extLst>
              <a:ext uri="{FF2B5EF4-FFF2-40B4-BE49-F238E27FC236}">
                <a16:creationId xmlns:a16="http://schemas.microsoft.com/office/drawing/2014/main" id="{4774132E-3230-80F5-8CD7-ABC2B100A0F2}"/>
              </a:ext>
            </a:extLst>
          </p:cNvPr>
          <p:cNvSpPr/>
          <p:nvPr/>
        </p:nvSpPr>
        <p:spPr>
          <a:xfrm rot="20368147">
            <a:off x="7635218" y="2618652"/>
            <a:ext cx="2167685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Class to </a:t>
            </a:r>
            <a:r>
              <a:rPr lang="da-DK" dirty="0" err="1"/>
              <a:t>deserialize</a:t>
            </a:r>
            <a:r>
              <a:rPr lang="da-DK" dirty="0"/>
              <a:t> 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019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D53518-2CD0-474C-E35C-1F06C27C3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Writing </a:t>
            </a:r>
            <a:r>
              <a:rPr lang="da-DK" dirty="0" err="1"/>
              <a:t>generic</a:t>
            </a:r>
            <a:r>
              <a:rPr lang="da-DK" dirty="0"/>
              <a:t> </a:t>
            </a:r>
            <a:r>
              <a:rPr lang="da-DK" dirty="0" err="1"/>
              <a:t>consumer</a:t>
            </a:r>
            <a:endParaRPr lang="en-US" dirty="0"/>
          </a:p>
        </p:txBody>
      </p:sp>
      <p:sp>
        <p:nvSpPr>
          <p:cNvPr id="4" name="Pladsholder til tekst 2">
            <a:extLst>
              <a:ext uri="{FF2B5EF4-FFF2-40B4-BE49-F238E27FC236}">
                <a16:creationId xmlns:a16="http://schemas.microsoft.com/office/drawing/2014/main" id="{1B8446E8-F0C7-3440-78BB-C463D9A521A0}"/>
              </a:ext>
            </a:extLst>
          </p:cNvPr>
          <p:cNvSpPr txBox="1">
            <a:spLocks/>
          </p:cNvSpPr>
          <p:nvPr/>
        </p:nvSpPr>
        <p:spPr>
          <a:xfrm>
            <a:off x="338760" y="1005785"/>
            <a:ext cx="9020331" cy="53354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44500" algn="l" rtl="0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73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»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Properties </a:t>
            </a:r>
            <a:r>
              <a:rPr lang="en-US" sz="1000" dirty="0" err="1">
                <a:latin typeface="Consolas" panose="020B0609020204030204" pitchFamily="49" charset="0"/>
              </a:rPr>
              <a:t>properties</a:t>
            </a:r>
            <a:r>
              <a:rPr lang="en-US" sz="1000" dirty="0">
                <a:latin typeface="Consolas" panose="020B0609020204030204" pitchFamily="49" charset="0"/>
              </a:rPr>
              <a:t> = new Properties();</a:t>
            </a: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properties.put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ProducerConfig.BOOTSTRAP_SERVERS_CONFIG</a:t>
            </a:r>
            <a:r>
              <a:rPr lang="en-US" sz="1000" dirty="0">
                <a:latin typeface="Consolas" panose="020B0609020204030204" pitchFamily="49" charset="0"/>
              </a:rPr>
              <a:t>, "localhost:9092");</a:t>
            </a: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properties.put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ConsumerConfig.GROUP_ID_CONFIG</a:t>
            </a:r>
            <a:r>
              <a:rPr lang="en-US" sz="1000" dirty="0">
                <a:latin typeface="Consolas" panose="020B0609020204030204" pitchFamily="49" charset="0"/>
              </a:rPr>
              <a:t>, "generic-</a:t>
            </a:r>
            <a:r>
              <a:rPr lang="en-US" sz="1000" dirty="0" err="1">
                <a:latin typeface="Consolas" panose="020B0609020204030204" pitchFamily="49" charset="0"/>
              </a:rPr>
              <a:t>protobuf</a:t>
            </a:r>
            <a:r>
              <a:rPr lang="en-US" sz="1000" dirty="0">
                <a:latin typeface="Consolas" panose="020B0609020204030204" pitchFamily="49" charset="0"/>
              </a:rPr>
              <a:t>-consumer-group");      </a:t>
            </a: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properties.put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ConsumerConfig.AUTO_OFFSET_RESET_CONFIG</a:t>
            </a:r>
            <a:r>
              <a:rPr lang="en-US" sz="1000" dirty="0">
                <a:latin typeface="Consolas" panose="020B0609020204030204" pitchFamily="49" charset="0"/>
              </a:rPr>
              <a:t>, "earliest");</a:t>
            </a: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properties.put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ConsumerConfig.ENABLE_AUTO_COMMIT_CONFIG</a:t>
            </a:r>
            <a:r>
              <a:rPr lang="en-US" sz="1000" dirty="0">
                <a:latin typeface="Consolas" panose="020B0609020204030204" pitchFamily="49" charset="0"/>
              </a:rPr>
              <a:t>, false);</a:t>
            </a: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properties.put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ConsumerConfig.KEY_DESERIALIZER_CLASS_CONFIG</a:t>
            </a:r>
            <a:r>
              <a:rPr lang="en-US" sz="1000" dirty="0">
                <a:latin typeface="Consolas" panose="020B0609020204030204" pitchFamily="49" charset="0"/>
              </a:rPr>
              <a:t>, </a:t>
            </a:r>
            <a:r>
              <a:rPr lang="en-US" sz="1000" dirty="0" err="1">
                <a:latin typeface="Consolas" panose="020B0609020204030204" pitchFamily="49" charset="0"/>
              </a:rPr>
              <a:t>StringDeserializer.class</a:t>
            </a:r>
            <a:r>
              <a:rPr lang="en-US" sz="1000" dirty="0">
                <a:latin typeface="Consolas" panose="020B0609020204030204" pitchFamily="49" charset="0"/>
              </a:rPr>
              <a:t>);</a:t>
            </a:r>
          </a:p>
          <a:p>
            <a:pPr marL="12700" indent="0">
              <a:buFont typeface="Arial"/>
              <a:buNone/>
            </a:pPr>
            <a:r>
              <a:rPr lang="en-US" sz="1000" b="1" dirty="0" err="1">
                <a:latin typeface="Consolas" panose="020B0609020204030204" pitchFamily="49" charset="0"/>
              </a:rPr>
              <a:t>properties.put</a:t>
            </a:r>
            <a:r>
              <a:rPr lang="en-US" sz="1000" b="1" dirty="0">
                <a:latin typeface="Consolas" panose="020B0609020204030204" pitchFamily="49" charset="0"/>
              </a:rPr>
              <a:t>(</a:t>
            </a:r>
            <a:r>
              <a:rPr lang="en-US" sz="1000" b="1" dirty="0" err="1">
                <a:latin typeface="Consolas" panose="020B0609020204030204" pitchFamily="49" charset="0"/>
              </a:rPr>
              <a:t>ConsumerConfig.VALUE_DESERIALIZER_CLASS_CONFIG</a:t>
            </a:r>
            <a:r>
              <a:rPr lang="en-US" sz="1000" b="1" dirty="0">
                <a:latin typeface="Consolas" panose="020B0609020204030204" pitchFamily="49" charset="0"/>
              </a:rPr>
              <a:t>, </a:t>
            </a:r>
            <a:r>
              <a:rPr lang="en-US" sz="1000" b="1" dirty="0" err="1">
                <a:latin typeface="Consolas" panose="020B0609020204030204" pitchFamily="49" charset="0"/>
              </a:rPr>
              <a:t>KafkaProtobufDeserializer.class</a:t>
            </a:r>
            <a:r>
              <a:rPr lang="en-US" sz="1000" b="1" dirty="0">
                <a:latin typeface="Consolas" panose="020B0609020204030204" pitchFamily="49" charset="0"/>
              </a:rPr>
              <a:t>);</a:t>
            </a:r>
          </a:p>
          <a:p>
            <a:pPr marL="12700" indent="0">
              <a:buFont typeface="Arial"/>
              <a:buNone/>
            </a:pPr>
            <a:r>
              <a:rPr lang="en-US" sz="1000" b="1" dirty="0" err="1">
                <a:latin typeface="Consolas" panose="020B0609020204030204" pitchFamily="49" charset="0"/>
              </a:rPr>
              <a:t>properties.put</a:t>
            </a:r>
            <a:r>
              <a:rPr lang="en-US" sz="1000" b="1" dirty="0">
                <a:latin typeface="Consolas" panose="020B0609020204030204" pitchFamily="49" charset="0"/>
              </a:rPr>
              <a:t>(</a:t>
            </a:r>
            <a:r>
              <a:rPr lang="en-US" sz="1000" b="1" dirty="0" err="1">
                <a:latin typeface="Consolas" panose="020B0609020204030204" pitchFamily="49" charset="0"/>
              </a:rPr>
              <a:t>KafkaProtobufDeserializerConfig.SCHEMA_REGISTRY_URL_CONFIG</a:t>
            </a:r>
            <a:r>
              <a:rPr lang="en-US" sz="1000" b="1" dirty="0">
                <a:latin typeface="Consolas" panose="020B0609020204030204" pitchFamily="49" charset="0"/>
              </a:rPr>
              <a:t>, "http://localhost:8081");</a:t>
            </a:r>
          </a:p>
          <a:p>
            <a:pPr marL="12700" indent="0">
              <a:buFont typeface="Arial"/>
              <a:buNone/>
            </a:pPr>
            <a:endParaRPr lang="en-US" sz="1000" dirty="0">
              <a:latin typeface="Consolas" panose="020B0609020204030204" pitchFamily="49" charset="0"/>
            </a:endParaRP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KafkaConsumer</a:t>
            </a:r>
            <a:r>
              <a:rPr lang="en-US" sz="1000" dirty="0">
                <a:latin typeface="Consolas" panose="020B0609020204030204" pitchFamily="49" charset="0"/>
              </a:rPr>
              <a:t>&lt;String, </a:t>
            </a:r>
            <a:r>
              <a:rPr lang="en-US" sz="1000" dirty="0" err="1">
                <a:latin typeface="Consolas" panose="020B0609020204030204" pitchFamily="49" charset="0"/>
              </a:rPr>
              <a:t>SimpleMessage</a:t>
            </a:r>
            <a:r>
              <a:rPr lang="en-US" sz="1000" dirty="0">
                <a:latin typeface="Consolas" panose="020B0609020204030204" pitchFamily="49" charset="0"/>
              </a:rPr>
              <a:t>&gt; consumer = new </a:t>
            </a:r>
            <a:r>
              <a:rPr lang="en-US" sz="1000" dirty="0" err="1">
                <a:latin typeface="Consolas" panose="020B0609020204030204" pitchFamily="49" charset="0"/>
              </a:rPr>
              <a:t>KafkaConsumer</a:t>
            </a:r>
            <a:r>
              <a:rPr lang="en-US" sz="1000" dirty="0">
                <a:latin typeface="Consolas" panose="020B0609020204030204" pitchFamily="49" charset="0"/>
              </a:rPr>
              <a:t>&lt;&gt;(properties);</a:t>
            </a:r>
          </a:p>
          <a:p>
            <a:pPr marL="12700" indent="0">
              <a:buFont typeface="Arial"/>
              <a:buNone/>
            </a:pPr>
            <a:r>
              <a:rPr lang="en-US" sz="1000" dirty="0" err="1">
                <a:latin typeface="Consolas" panose="020B0609020204030204" pitchFamily="49" charset="0"/>
              </a:rPr>
              <a:t>consumer.subscribe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Collections.singleton</a:t>
            </a:r>
            <a:r>
              <a:rPr lang="en-US" sz="1000" dirty="0">
                <a:latin typeface="Consolas" panose="020B0609020204030204" pitchFamily="49" charset="0"/>
              </a:rPr>
              <a:t>("</a:t>
            </a:r>
            <a:r>
              <a:rPr lang="en-US" sz="1000" dirty="0" err="1">
                <a:latin typeface="Consolas" panose="020B0609020204030204" pitchFamily="49" charset="0"/>
              </a:rPr>
              <a:t>protobuf</a:t>
            </a:r>
            <a:r>
              <a:rPr lang="en-US" sz="1000" dirty="0">
                <a:latin typeface="Consolas" panose="020B0609020204030204" pitchFamily="49" charset="0"/>
              </a:rPr>
              <a:t>-topic"));</a:t>
            </a:r>
          </a:p>
          <a:p>
            <a:pPr marL="12700" indent="0">
              <a:buFont typeface="Arial"/>
              <a:buNone/>
            </a:pPr>
            <a:endParaRPr lang="en-US" sz="1000" dirty="0">
              <a:latin typeface="Consolas" panose="020B0609020204030204" pitchFamily="49" charset="0"/>
            </a:endParaRP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while (true) {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latin typeface="Consolas" panose="020B0609020204030204" pitchFamily="49" charset="0"/>
              </a:rPr>
              <a:t>ConsumerRecords</a:t>
            </a:r>
            <a:r>
              <a:rPr lang="en-US" sz="1000" dirty="0">
                <a:latin typeface="Consolas" panose="020B0609020204030204" pitchFamily="49" charset="0"/>
              </a:rPr>
              <a:t>&lt;String, </a:t>
            </a:r>
            <a:r>
              <a:rPr lang="en-US" sz="1000" b="1" dirty="0" err="1">
                <a:latin typeface="Consolas" panose="020B0609020204030204" pitchFamily="49" charset="0"/>
              </a:rPr>
              <a:t>DynamicMessage</a:t>
            </a:r>
            <a:r>
              <a:rPr lang="en-US" sz="1000" dirty="0">
                <a:latin typeface="Consolas" panose="020B0609020204030204" pitchFamily="49" charset="0"/>
              </a:rPr>
              <a:t>&gt; records = </a:t>
            </a:r>
            <a:r>
              <a:rPr lang="en-US" sz="1000" dirty="0" err="1">
                <a:latin typeface="Consolas" panose="020B0609020204030204" pitchFamily="49" charset="0"/>
              </a:rPr>
              <a:t>consumer.poll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Duration.ofMillis</a:t>
            </a:r>
            <a:r>
              <a:rPr lang="en-US" sz="1000" dirty="0">
                <a:latin typeface="Consolas" panose="020B0609020204030204" pitchFamily="49" charset="0"/>
              </a:rPr>
              <a:t>(100));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    for (</a:t>
            </a:r>
            <a:r>
              <a:rPr lang="en-US" sz="1000" dirty="0" err="1">
                <a:latin typeface="Consolas" panose="020B0609020204030204" pitchFamily="49" charset="0"/>
              </a:rPr>
              <a:t>ConsumerRecord</a:t>
            </a:r>
            <a:r>
              <a:rPr lang="en-US" sz="1000" dirty="0">
                <a:latin typeface="Consolas" panose="020B0609020204030204" pitchFamily="49" charset="0"/>
              </a:rPr>
              <a:t>&lt;String, </a:t>
            </a:r>
            <a:r>
              <a:rPr lang="en-US" sz="1000" b="1" dirty="0" err="1">
                <a:latin typeface="Consolas" panose="020B0609020204030204" pitchFamily="49" charset="0"/>
              </a:rPr>
              <a:t>DynamicMessage</a:t>
            </a:r>
            <a:r>
              <a:rPr lang="en-US" sz="1000" dirty="0">
                <a:latin typeface="Consolas" panose="020B0609020204030204" pitchFamily="49" charset="0"/>
              </a:rPr>
              <a:t>&gt; record : records) {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        for (</a:t>
            </a:r>
            <a:r>
              <a:rPr lang="en-US" sz="1000" dirty="0" err="1">
                <a:latin typeface="Consolas" panose="020B0609020204030204" pitchFamily="49" charset="0"/>
              </a:rPr>
              <a:t>FieldDescriptor</a:t>
            </a:r>
            <a:r>
              <a:rPr lang="en-US" sz="1000" dirty="0">
                <a:latin typeface="Consolas" panose="020B0609020204030204" pitchFamily="49" charset="0"/>
              </a:rPr>
              <a:t> field : </a:t>
            </a:r>
            <a:r>
              <a:rPr lang="en-US" sz="1000" dirty="0" err="1">
                <a:latin typeface="Consolas" panose="020B0609020204030204" pitchFamily="49" charset="0"/>
              </a:rPr>
              <a:t>record.value</a:t>
            </a:r>
            <a:r>
              <a:rPr lang="en-US" sz="1000" dirty="0">
                <a:latin typeface="Consolas" panose="020B0609020204030204" pitchFamily="49" charset="0"/>
              </a:rPr>
              <a:t>().</a:t>
            </a:r>
            <a:r>
              <a:rPr lang="en-US" sz="1000" dirty="0" err="1">
                <a:latin typeface="Consolas" panose="020B0609020204030204" pitchFamily="49" charset="0"/>
              </a:rPr>
              <a:t>getAllFields</a:t>
            </a:r>
            <a:r>
              <a:rPr lang="en-US" sz="1000" dirty="0">
                <a:latin typeface="Consolas" panose="020B0609020204030204" pitchFamily="49" charset="0"/>
              </a:rPr>
              <a:t>().</a:t>
            </a:r>
            <a:r>
              <a:rPr lang="en-US" sz="1000" dirty="0" err="1">
                <a:latin typeface="Consolas" panose="020B0609020204030204" pitchFamily="49" charset="0"/>
              </a:rPr>
              <a:t>keySet</a:t>
            </a:r>
            <a:r>
              <a:rPr lang="en-US" sz="1000" dirty="0">
                <a:latin typeface="Consolas" panose="020B0609020204030204" pitchFamily="49" charset="0"/>
              </a:rPr>
              <a:t>()) {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            </a:t>
            </a:r>
            <a:r>
              <a:rPr lang="en-US" sz="1000" dirty="0" err="1">
                <a:latin typeface="Consolas" panose="020B0609020204030204" pitchFamily="49" charset="0"/>
              </a:rPr>
              <a:t>System.out.println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field.getName</a:t>
            </a:r>
            <a:r>
              <a:rPr lang="en-US" sz="1000" dirty="0">
                <a:latin typeface="Consolas" panose="020B0609020204030204" pitchFamily="49" charset="0"/>
              </a:rPr>
              <a:t>() + ": " + </a:t>
            </a:r>
            <a:r>
              <a:rPr lang="en-US" sz="1000" dirty="0" err="1">
                <a:latin typeface="Consolas" panose="020B0609020204030204" pitchFamily="49" charset="0"/>
              </a:rPr>
              <a:t>record.value</a:t>
            </a:r>
            <a:r>
              <a:rPr lang="en-US" sz="1000" dirty="0">
                <a:latin typeface="Consolas" panose="020B0609020204030204" pitchFamily="49" charset="0"/>
              </a:rPr>
              <a:t>().</a:t>
            </a:r>
            <a:r>
              <a:rPr lang="en-US" sz="1000" dirty="0" err="1">
                <a:latin typeface="Consolas" panose="020B0609020204030204" pitchFamily="49" charset="0"/>
              </a:rPr>
              <a:t>getField</a:t>
            </a:r>
            <a:r>
              <a:rPr lang="en-US" sz="1000" dirty="0">
                <a:latin typeface="Consolas" panose="020B0609020204030204" pitchFamily="49" charset="0"/>
              </a:rPr>
              <a:t>(field));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        }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    }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latin typeface="Consolas" panose="020B0609020204030204" pitchFamily="49" charset="0"/>
              </a:rPr>
              <a:t>consumer.commitAsync</a:t>
            </a:r>
            <a:r>
              <a:rPr lang="en-US" sz="1000" dirty="0">
                <a:latin typeface="Consolas" panose="020B0609020204030204" pitchFamily="49" charset="0"/>
              </a:rPr>
              <a:t>();</a:t>
            </a:r>
          </a:p>
          <a:p>
            <a:pPr marL="12700" indent="0">
              <a:buFont typeface="Arial"/>
              <a:buNone/>
            </a:pPr>
            <a:r>
              <a:rPr lang="en-US" sz="1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Pil: venstre 4">
            <a:extLst>
              <a:ext uri="{FF2B5EF4-FFF2-40B4-BE49-F238E27FC236}">
                <a16:creationId xmlns:a16="http://schemas.microsoft.com/office/drawing/2014/main" id="{9FE73D92-ADEC-1A44-8C62-652B6925C33C}"/>
              </a:ext>
            </a:extLst>
          </p:cNvPr>
          <p:cNvSpPr/>
          <p:nvPr/>
        </p:nvSpPr>
        <p:spPr>
          <a:xfrm rot="2213185">
            <a:off x="6110643" y="4000617"/>
            <a:ext cx="3551826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Deserializer</a:t>
            </a:r>
            <a:r>
              <a:rPr lang="da-DK" dirty="0"/>
              <a:t> and pointer to </a:t>
            </a:r>
            <a:r>
              <a:rPr lang="da-DK" dirty="0" err="1"/>
              <a:t>registry</a:t>
            </a:r>
            <a:endParaRPr lang="en-US" dirty="0"/>
          </a:p>
        </p:txBody>
      </p:sp>
      <p:sp>
        <p:nvSpPr>
          <p:cNvPr id="3" name="Pil: venstre 2">
            <a:extLst>
              <a:ext uri="{FF2B5EF4-FFF2-40B4-BE49-F238E27FC236}">
                <a16:creationId xmlns:a16="http://schemas.microsoft.com/office/drawing/2014/main" id="{1F202CE3-37C0-20F5-5CDA-7027535038B3}"/>
              </a:ext>
            </a:extLst>
          </p:cNvPr>
          <p:cNvSpPr/>
          <p:nvPr/>
        </p:nvSpPr>
        <p:spPr>
          <a:xfrm rot="20415808">
            <a:off x="3669945" y="3687780"/>
            <a:ext cx="1945696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Dynamic 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32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21EA28-74D7-33B5-C555-50355A95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Interacting</a:t>
            </a:r>
            <a:r>
              <a:rPr lang="da-DK" dirty="0"/>
              <a:t> with </a:t>
            </a:r>
            <a:r>
              <a:rPr lang="da-DK" dirty="0" err="1"/>
              <a:t>schema</a:t>
            </a:r>
            <a:r>
              <a:rPr lang="da-DK" dirty="0"/>
              <a:t> </a:t>
            </a:r>
            <a:r>
              <a:rPr lang="da-DK" dirty="0" err="1"/>
              <a:t>registry</a:t>
            </a:r>
            <a:endParaRPr lang="en-US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D0025252-9E59-854C-875F-CAAFD5AE1C63}"/>
              </a:ext>
            </a:extLst>
          </p:cNvPr>
          <p:cNvSpPr txBox="1"/>
          <p:nvPr/>
        </p:nvSpPr>
        <p:spPr>
          <a:xfrm>
            <a:off x="254371" y="1148385"/>
            <a:ext cx="3166251" cy="116955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http://localhost:8085/subjects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[</a:t>
            </a:r>
          </a:p>
          <a:p>
            <a:r>
              <a:rPr lang="en-US" dirty="0">
                <a:latin typeface="Consolas" panose="020B0609020204030204" pitchFamily="49" charset="0"/>
              </a:rPr>
              <a:t>   “Hello-topic-value”</a:t>
            </a:r>
          </a:p>
          <a:p>
            <a:r>
              <a:rPr lang="en-US" dirty="0"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C284F209-9260-BA1F-B4D9-9C9D8BA682EC}"/>
              </a:ext>
            </a:extLst>
          </p:cNvPr>
          <p:cNvSpPr txBox="1"/>
          <p:nvPr/>
        </p:nvSpPr>
        <p:spPr>
          <a:xfrm>
            <a:off x="3955312" y="1249594"/>
            <a:ext cx="5932967" cy="138499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http://localhost:8085/subjects/Hello-topic-value/versions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[</a:t>
            </a:r>
          </a:p>
          <a:p>
            <a:r>
              <a:rPr lang="en-US" dirty="0">
                <a:latin typeface="Consolas" panose="020B0609020204030204" pitchFamily="49" charset="0"/>
              </a:rPr>
              <a:t>   1,</a:t>
            </a:r>
          </a:p>
          <a:p>
            <a:r>
              <a:rPr lang="en-US" dirty="0">
                <a:latin typeface="Consolas" panose="020B0609020204030204" pitchFamily="49" charset="0"/>
              </a:rPr>
              <a:t>   2</a:t>
            </a:r>
          </a:p>
          <a:p>
            <a:r>
              <a:rPr lang="en-US" dirty="0"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FD47E22-2202-E0C5-2CB1-45BEFEF3F9BD}"/>
              </a:ext>
            </a:extLst>
          </p:cNvPr>
          <p:cNvSpPr txBox="1"/>
          <p:nvPr/>
        </p:nvSpPr>
        <p:spPr>
          <a:xfrm>
            <a:off x="273769" y="3848860"/>
            <a:ext cx="8982385" cy="24622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http://localhost:8085/subjects/Hello-topic-value/versions/1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"subject": "hello-topic-value",</a:t>
            </a:r>
          </a:p>
          <a:p>
            <a:r>
              <a:rPr lang="en-US" dirty="0">
                <a:latin typeface="Consolas" panose="020B0609020204030204" pitchFamily="49" charset="0"/>
              </a:rPr>
              <a:t>"version": 1,</a:t>
            </a:r>
          </a:p>
          <a:p>
            <a:r>
              <a:rPr lang="en-US" dirty="0">
                <a:latin typeface="Consolas" panose="020B0609020204030204" pitchFamily="49" charset="0"/>
              </a:rPr>
              <a:t>"id": 1,</a:t>
            </a:r>
          </a:p>
          <a:p>
            <a:r>
              <a:rPr lang="en-US" dirty="0">
                <a:latin typeface="Consolas" panose="020B0609020204030204" pitchFamily="49" charset="0"/>
              </a:rPr>
              <a:t>"</a:t>
            </a:r>
            <a:r>
              <a:rPr lang="en-US" dirty="0" err="1">
                <a:latin typeface="Consolas" panose="020B0609020204030204" pitchFamily="49" charset="0"/>
              </a:rPr>
              <a:t>schemaType</a:t>
            </a:r>
            <a:r>
              <a:rPr lang="en-US" dirty="0">
                <a:latin typeface="Consolas" panose="020B0609020204030204" pitchFamily="49" charset="0"/>
              </a:rPr>
              <a:t>": "PROTOBUF",</a:t>
            </a:r>
          </a:p>
          <a:p>
            <a:r>
              <a:rPr lang="en-US" dirty="0">
                <a:latin typeface="Consolas" panose="020B0609020204030204" pitchFamily="49" charset="0"/>
              </a:rPr>
              <a:t>"schema": "syntax = \"proto3\";\n\</a:t>
            </a:r>
            <a:r>
              <a:rPr lang="en-US" dirty="0" err="1">
                <a:latin typeface="Consolas" panose="020B0609020204030204" pitchFamily="49" charset="0"/>
              </a:rPr>
              <a:t>noption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java_package</a:t>
            </a:r>
            <a:r>
              <a:rPr lang="en-US" dirty="0">
                <a:latin typeface="Consolas" panose="020B0609020204030204" pitchFamily="49" charset="0"/>
              </a:rPr>
              <a:t> = \"</a:t>
            </a:r>
            <a:r>
              <a:rPr lang="en-US" dirty="0" err="1">
                <a:latin typeface="Consolas" panose="020B0609020204030204" pitchFamily="49" charset="0"/>
              </a:rPr>
              <a:t>com.example.tutorial.protos</a:t>
            </a:r>
            <a:r>
              <a:rPr lang="en-US" dirty="0">
                <a:latin typeface="Consolas" panose="020B0609020204030204" pitchFamily="49" charset="0"/>
              </a:rPr>
              <a:t>\";\n\</a:t>
            </a:r>
            <a:r>
              <a:rPr lang="en-US" dirty="0" err="1">
                <a:latin typeface="Consolas" panose="020B0609020204030204" pitchFamily="49" charset="0"/>
              </a:rPr>
              <a:t>nmessage</a:t>
            </a:r>
            <a:r>
              <a:rPr lang="en-US" dirty="0">
                <a:latin typeface="Consolas" panose="020B0609020204030204" pitchFamily="49" charset="0"/>
              </a:rPr>
              <a:t> HelloWorld {\n  string message = 1;\n  string message_1 = 2;\n}\n"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4BEA47A3-EFD8-BD7F-FCE7-C78641F66F11}"/>
              </a:ext>
            </a:extLst>
          </p:cNvPr>
          <p:cNvSpPr txBox="1"/>
          <p:nvPr/>
        </p:nvSpPr>
        <p:spPr>
          <a:xfrm rot="1827459">
            <a:off x="6523255" y="3293937"/>
            <a:ext cx="3365024" cy="116955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http://localhost:8085/config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"</a:t>
            </a:r>
            <a:r>
              <a:rPr lang="en-US" dirty="0" err="1">
                <a:latin typeface="Consolas" panose="020B0609020204030204" pitchFamily="49" charset="0"/>
              </a:rPr>
              <a:t>compatibilityLevel</a:t>
            </a:r>
            <a:r>
              <a:rPr lang="en-US" dirty="0">
                <a:latin typeface="Consolas" panose="020B0609020204030204" pitchFamily="49" charset="0"/>
              </a:rPr>
              <a:t>": "BACKWARD"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9AAD92B8-EF97-6D72-7BA2-A2334A294406}"/>
              </a:ext>
            </a:extLst>
          </p:cNvPr>
          <p:cNvSpPr txBox="1"/>
          <p:nvPr/>
        </p:nvSpPr>
        <p:spPr>
          <a:xfrm>
            <a:off x="744279" y="2855251"/>
            <a:ext cx="4527201" cy="523220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da-DK" dirty="0" err="1"/>
              <a:t>Use</a:t>
            </a:r>
            <a:r>
              <a:rPr lang="da-DK" dirty="0"/>
              <a:t> POST + DELETE + PATCH operations to </a:t>
            </a:r>
            <a:r>
              <a:rPr lang="da-DK" dirty="0" err="1"/>
              <a:t>change</a:t>
            </a:r>
            <a:r>
              <a:rPr lang="da-DK" dirty="0"/>
              <a:t> </a:t>
            </a:r>
          </a:p>
          <a:p>
            <a:r>
              <a:rPr lang="da-DK" dirty="0" err="1"/>
              <a:t>configurations</a:t>
            </a:r>
            <a:r>
              <a:rPr lang="da-DK" dirty="0"/>
              <a:t> and </a:t>
            </a:r>
            <a:r>
              <a:rPr lang="da-DK" dirty="0" err="1"/>
              <a:t>create</a:t>
            </a:r>
            <a:r>
              <a:rPr lang="da-DK" dirty="0"/>
              <a:t>, </a:t>
            </a:r>
            <a:r>
              <a:rPr lang="da-DK" dirty="0" err="1"/>
              <a:t>update</a:t>
            </a:r>
            <a:r>
              <a:rPr lang="da-DK" dirty="0"/>
              <a:t> and delete </a:t>
            </a:r>
            <a:r>
              <a:rPr lang="da-DK" dirty="0" err="1"/>
              <a:t>schemas</a:t>
            </a:r>
            <a:endParaRPr lang="en-US" dirty="0"/>
          </a:p>
        </p:txBody>
      </p:sp>
      <p:sp>
        <p:nvSpPr>
          <p:cNvPr id="12" name="Pil: højre 11">
            <a:extLst>
              <a:ext uri="{FF2B5EF4-FFF2-40B4-BE49-F238E27FC236}">
                <a16:creationId xmlns:a16="http://schemas.microsoft.com/office/drawing/2014/main" id="{8349AACE-0A3F-4ECC-1705-5F6F77A41D32}"/>
              </a:ext>
            </a:extLst>
          </p:cNvPr>
          <p:cNvSpPr/>
          <p:nvPr/>
        </p:nvSpPr>
        <p:spPr>
          <a:xfrm>
            <a:off x="6371029" y="4376361"/>
            <a:ext cx="205442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Default </a:t>
            </a:r>
            <a:r>
              <a:rPr lang="da-DK" dirty="0" err="1"/>
              <a:t>compatibility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320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21EA28-74D7-33B5-C555-50355A95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Backward</a:t>
            </a:r>
            <a:r>
              <a:rPr lang="da-DK" dirty="0"/>
              <a:t> </a:t>
            </a:r>
            <a:r>
              <a:rPr lang="da-DK" dirty="0" err="1"/>
              <a:t>compatible</a:t>
            </a:r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2F3FF4C-CE8D-C1D6-501F-AE2F8E7CD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63" y="2228850"/>
            <a:ext cx="66675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349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21EA28-74D7-33B5-C555-50355A95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Forward </a:t>
            </a:r>
            <a:r>
              <a:rPr lang="da-DK" dirty="0" err="1"/>
              <a:t>compatible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A33B4CB-F6D6-ADF1-F829-BD746C477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63" y="2328863"/>
            <a:ext cx="6667500" cy="220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181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21EA28-74D7-33B5-C555-50355A95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Example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FC9DA2B-4ABE-822A-468D-AFC28B08A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5587" y="1829529"/>
            <a:ext cx="7029450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49425"/>
      </p:ext>
    </p:extLst>
  </p:cSld>
  <p:clrMapOvr>
    <a:masterClrMapping/>
  </p:clrMapOvr>
</p:sld>
</file>

<file path=ppt/theme/theme1.xml><?xml version="1.0" encoding="utf-8"?>
<a:theme xmlns:a="http://schemas.openxmlformats.org/drawingml/2006/main" name="3_Standarddesign">
  <a:themeElements>
    <a:clrScheme name="Brugerdefinere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9900"/>
      </a:accent1>
      <a:accent2>
        <a:srgbClr val="325FA4"/>
      </a:accent2>
      <a:accent3>
        <a:srgbClr val="FFFF00"/>
      </a:accent3>
      <a:accent4>
        <a:srgbClr val="000000"/>
      </a:accent4>
      <a:accent5>
        <a:srgbClr val="FF9900"/>
      </a:accent5>
      <a:accent6>
        <a:srgbClr val="325FA4"/>
      </a:accent6>
      <a:hlink>
        <a:srgbClr val="248FD6"/>
      </a:hlink>
      <a:folHlink>
        <a:srgbClr val="248FD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Standarddesign">
  <a:themeElements>
    <a:clrScheme name="Brugerdefinere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9900"/>
      </a:accent1>
      <a:accent2>
        <a:srgbClr val="325FA4"/>
      </a:accent2>
      <a:accent3>
        <a:srgbClr val="FFFF00"/>
      </a:accent3>
      <a:accent4>
        <a:srgbClr val="000000"/>
      </a:accent4>
      <a:accent5>
        <a:srgbClr val="FF9900"/>
      </a:accent5>
      <a:accent6>
        <a:srgbClr val="325FA4"/>
      </a:accent6>
      <a:hlink>
        <a:srgbClr val="248FD6"/>
      </a:hlink>
      <a:folHlink>
        <a:srgbClr val="248FD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E4D1322-46BA-484A-A06D-ADF5DB34D535}">
  <we:reference id="wa200000113" version="1.0.0.0" store="en-US" storeType="OMEX"/>
  <we:alternateReferences>
    <we:reference id="wa200000113" version="1.0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15654</TotalTime>
  <Words>1296</Words>
  <Application>Microsoft Office PowerPoint</Application>
  <PresentationFormat>Brugerdefineret</PresentationFormat>
  <Paragraphs>170</Paragraphs>
  <Slides>12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2</vt:i4>
      </vt:variant>
      <vt:variant>
        <vt:lpstr>Slidetitler</vt:lpstr>
      </vt:variant>
      <vt:variant>
        <vt:i4>12</vt:i4>
      </vt:variant>
    </vt:vector>
  </HeadingPairs>
  <TitlesOfParts>
    <vt:vector size="18" baseType="lpstr">
      <vt:lpstr>Consolas</vt:lpstr>
      <vt:lpstr>Times New Roman</vt:lpstr>
      <vt:lpstr>Arial Narrow</vt:lpstr>
      <vt:lpstr>Arial</vt:lpstr>
      <vt:lpstr>3_Standarddesign</vt:lpstr>
      <vt:lpstr>2_Standarddesign</vt:lpstr>
      <vt:lpstr>Schema registry</vt:lpstr>
      <vt:lpstr>Without schema registry</vt:lpstr>
      <vt:lpstr>With schema registry</vt:lpstr>
      <vt:lpstr>Protobuf schema</vt:lpstr>
      <vt:lpstr>Generating code in java</vt:lpstr>
      <vt:lpstr>Writing producer</vt:lpstr>
      <vt:lpstr>Writing consumer</vt:lpstr>
      <vt:lpstr>Writing generic consumer</vt:lpstr>
      <vt:lpstr>Interacting with schema registry</vt:lpstr>
      <vt:lpstr>Backward compatible</vt:lpstr>
      <vt:lpstr>Forward compatible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Velkommen til &lt;&lt; indsæt kursets navn &gt;&gt; &lt;&lt; evt. dato eller lign.  &gt;&gt;</dc:title>
  <cp:lastModifiedBy>Martin Højgaard Clausen, PostNord</cp:lastModifiedBy>
  <cp:revision>171</cp:revision>
  <dcterms:modified xsi:type="dcterms:W3CDTF">2024-04-08T10:43:09Z</dcterms:modified>
</cp:coreProperties>
</file>